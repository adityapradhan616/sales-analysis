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1.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2.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3.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FC69C88F-1A3F-9B03-8861-0E1A76F4FFAC}">
          <p14:sldIdLst>
            <p14:sldId id="256"/>
            <p14:sldId id="257"/>
          </p14:sldIdLst>
        </p14:section>
        <p14:section name="Executive Overview &amp; Trends" id="{CAF38A2C-F3F6-9A0C-060C-950891DCEB20}">
          <p14:sldIdLst>
            <p14:sldId id="258"/>
            <p14:sldId id="259"/>
            <p14:sldId id="260"/>
          </p14:sldIdLst>
        </p14:section>
        <p14:section name="Product &amp; Channel Performance" id="{9F73AFB5-21AA-2561-A18B-3ED86651E663}">
          <p14:sldIdLst>
            <p14:sldId id="262"/>
            <p14:sldId id="263"/>
            <p14:sldId id="264"/>
            <p14:sldId id="265"/>
          </p14:sldIdLst>
        </p14:section>
        <p14:section name="Geographic &amp; Customer Insights" id="{9C5FA428-186D-F305-5822-31E198D5A037}">
          <p14:sldIdLst>
            <p14:sldId id="266"/>
            <p14:sldId id="267"/>
            <p14:sldId id="268"/>
            <p14:sldId id="269"/>
          </p14:sldIdLst>
        </p14:section>
        <p14:section name="Wrap-up" id="{5F3D812A-FFB5-132B-608E-3D8A5D225BBE}">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2014</c:v>
                </c:pt>
              </c:strCache>
            </c:strRef>
          </c:tx>
          <c:spPr>
            <a:ln w="31750" cap="flat">
              <a:solidFill>
                <a:srgbClr val="9DB9E8"/>
              </a:solidFill>
              <a:prstDash val="solid"/>
              <a:round/>
            </a:ln>
            <a:effectLst/>
          </c:spPr>
          <c:marker>
            <c:symbol val="circle"/>
            <c:size val="6"/>
            <c:spPr>
              <a:solidFill>
                <a:srgbClr val="9DB9E8"/>
              </a:solidFill>
              <a:ln w="9525" cap="flat">
                <a:solidFill>
                  <a:srgbClr val="9DB9E8"/>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9.3800000000000008</c:v>
                </c:pt>
                <c:pt idx="1">
                  <c:v>8.83</c:v>
                </c:pt>
                <c:pt idx="2">
                  <c:v>8.8699999999999992</c:v>
                </c:pt>
                <c:pt idx="3">
                  <c:v>9.4600000000000009</c:v>
                </c:pt>
                <c:pt idx="4">
                  <c:v>9.7200000000000006</c:v>
                </c:pt>
                <c:pt idx="5">
                  <c:v>8.77</c:v>
                </c:pt>
                <c:pt idx="6">
                  <c:v>8.59</c:v>
                </c:pt>
                <c:pt idx="7">
                  <c:v>9.35</c:v>
                </c:pt>
                <c:pt idx="8">
                  <c:v>9.57</c:v>
                </c:pt>
                <c:pt idx="9">
                  <c:v>9.11</c:v>
                </c:pt>
                <c:pt idx="10">
                  <c:v>9.91</c:v>
                </c:pt>
                <c:pt idx="11">
                  <c:v>9.68</c:v>
                </c:pt>
              </c:numCache>
            </c:numRef>
          </c:val>
          <c:smooth val="0"/>
          <c:extLst>
            <c:ext xmlns:c16="http://schemas.microsoft.com/office/drawing/2014/chart" uri="{C3380CC4-5D6E-409C-BE32-E72D297353CC}">
              <c16:uniqueId val="{00000000-69A7-4690-A3C8-EF14A7565B0A}"/>
            </c:ext>
          </c:extLst>
        </c:ser>
        <c:ser>
          <c:idx val="1"/>
          <c:order val="1"/>
          <c:tx>
            <c:strRef>
              <c:f>Sheet1!$C$1</c:f>
              <c:strCache>
                <c:ptCount val="1"/>
                <c:pt idx="0">
                  <c:v>2015</c:v>
                </c:pt>
              </c:strCache>
            </c:strRef>
          </c:tx>
          <c:spPr>
            <a:ln w="31750" cap="flat">
              <a:solidFill>
                <a:srgbClr val="5C8FE0"/>
              </a:solidFill>
              <a:prstDash val="solid"/>
              <a:round/>
            </a:ln>
            <a:effectLst/>
          </c:spPr>
          <c:marker>
            <c:symbol val="circle"/>
            <c:size val="6"/>
            <c:spPr>
              <a:solidFill>
                <a:srgbClr val="5C8FE0"/>
              </a:solidFill>
              <a:ln w="9525" cap="flat">
                <a:solidFill>
                  <a:srgbClr val="5C8FE0"/>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9.42</c:v>
                </c:pt>
                <c:pt idx="1">
                  <c:v>8.75</c:v>
                </c:pt>
                <c:pt idx="2">
                  <c:v>9.17</c:v>
                </c:pt>
                <c:pt idx="3">
                  <c:v>8.75</c:v>
                </c:pt>
                <c:pt idx="4">
                  <c:v>9.61</c:v>
                </c:pt>
                <c:pt idx="5">
                  <c:v>9.18</c:v>
                </c:pt>
                <c:pt idx="6">
                  <c:v>9.11</c:v>
                </c:pt>
                <c:pt idx="7">
                  <c:v>9.94</c:v>
                </c:pt>
                <c:pt idx="8">
                  <c:v>9.19</c:v>
                </c:pt>
                <c:pt idx="9">
                  <c:v>9.5299999999999994</c:v>
                </c:pt>
                <c:pt idx="10">
                  <c:v>9.5</c:v>
                </c:pt>
                <c:pt idx="11">
                  <c:v>9.74</c:v>
                </c:pt>
              </c:numCache>
            </c:numRef>
          </c:val>
          <c:smooth val="0"/>
          <c:extLst>
            <c:ext xmlns:c16="http://schemas.microsoft.com/office/drawing/2014/chart" uri="{C3380CC4-5D6E-409C-BE32-E72D297353CC}">
              <c16:uniqueId val="{00000001-69A7-4690-A3C8-EF14A7565B0A}"/>
            </c:ext>
          </c:extLst>
        </c:ser>
        <c:ser>
          <c:idx val="2"/>
          <c:order val="2"/>
          <c:tx>
            <c:strRef>
              <c:f>Sheet1!$D$1</c:f>
              <c:strCache>
                <c:ptCount val="1"/>
                <c:pt idx="0">
                  <c:v>2016</c:v>
                </c:pt>
              </c:strCache>
            </c:strRef>
          </c:tx>
          <c:spPr>
            <a:ln w="31750" cap="flat">
              <a:solidFill>
                <a:srgbClr val="2F6FDB"/>
              </a:solidFill>
              <a:prstDash val="solid"/>
              <a:round/>
            </a:ln>
            <a:effectLst/>
          </c:spPr>
          <c:marker>
            <c:symbol val="circle"/>
            <c:size val="6"/>
            <c:spPr>
              <a:solidFill>
                <a:srgbClr val="2F6FDB"/>
              </a:solidFill>
              <a:ln w="9525" cap="flat">
                <a:solidFill>
                  <a:srgbClr val="2F6FDB"/>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9.48</c:v>
                </c:pt>
                <c:pt idx="1">
                  <c:v>8.74</c:v>
                </c:pt>
                <c:pt idx="2">
                  <c:v>9.68</c:v>
                </c:pt>
                <c:pt idx="3">
                  <c:v>8.6300000000000008</c:v>
                </c:pt>
                <c:pt idx="4">
                  <c:v>9.58</c:v>
                </c:pt>
                <c:pt idx="5">
                  <c:v>9.1</c:v>
                </c:pt>
                <c:pt idx="6">
                  <c:v>9.35</c:v>
                </c:pt>
                <c:pt idx="7">
                  <c:v>9.1</c:v>
                </c:pt>
                <c:pt idx="8">
                  <c:v>9.11</c:v>
                </c:pt>
                <c:pt idx="9">
                  <c:v>9.66</c:v>
                </c:pt>
                <c:pt idx="10">
                  <c:v>9.3699999999999992</c:v>
                </c:pt>
                <c:pt idx="11">
                  <c:v>9.36</c:v>
                </c:pt>
              </c:numCache>
            </c:numRef>
          </c:val>
          <c:smooth val="0"/>
          <c:extLst>
            <c:ext xmlns:c16="http://schemas.microsoft.com/office/drawing/2014/chart" uri="{C3380CC4-5D6E-409C-BE32-E72D297353CC}">
              <c16:uniqueId val="{00000002-69A7-4690-A3C8-EF14A7565B0A}"/>
            </c:ext>
          </c:extLst>
        </c:ser>
        <c:ser>
          <c:idx val="3"/>
          <c:order val="3"/>
          <c:tx>
            <c:strRef>
              <c:f>Sheet1!$E$1</c:f>
              <c:strCache>
                <c:ptCount val="1"/>
                <c:pt idx="0">
                  <c:v>2017</c:v>
                </c:pt>
              </c:strCache>
            </c:strRef>
          </c:tx>
          <c:spPr>
            <a:ln w="31750" cap="flat">
              <a:solidFill>
                <a:srgbClr val="0B2A5B"/>
              </a:solidFill>
              <a:prstDash val="solid"/>
              <a:round/>
            </a:ln>
            <a:effectLst/>
          </c:spPr>
          <c:marker>
            <c:symbol val="circle"/>
            <c:size val="6"/>
            <c:spPr>
              <a:solidFill>
                <a:srgbClr val="0B2A5B"/>
              </a:solidFill>
              <a:ln w="9525" cap="flat">
                <a:solidFill>
                  <a:srgbClr val="0B2A5B"/>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9.07</c:v>
                </c:pt>
                <c:pt idx="1">
                  <c:v>8.02</c:v>
                </c:pt>
                <c:pt idx="2">
                  <c:v>9.81</c:v>
                </c:pt>
                <c:pt idx="3">
                  <c:v>8.69</c:v>
                </c:pt>
                <c:pt idx="4">
                  <c:v>9.77</c:v>
                </c:pt>
                <c:pt idx="5">
                  <c:v>8.7899999999999991</c:v>
                </c:pt>
                <c:pt idx="6">
                  <c:v>8.8000000000000007</c:v>
                </c:pt>
                <c:pt idx="7">
                  <c:v>9.42</c:v>
                </c:pt>
                <c:pt idx="8">
                  <c:v>9.23</c:v>
                </c:pt>
                <c:pt idx="9">
                  <c:v>9.6300000000000008</c:v>
                </c:pt>
                <c:pt idx="10">
                  <c:v>9.11</c:v>
                </c:pt>
                <c:pt idx="11">
                  <c:v>9.3000000000000007</c:v>
                </c:pt>
              </c:numCache>
            </c:numRef>
          </c:val>
          <c:smooth val="0"/>
          <c:extLst>
            <c:ext xmlns:c16="http://schemas.microsoft.com/office/drawing/2014/chart" uri="{C3380CC4-5D6E-409C-BE32-E72D297353CC}">
              <c16:uniqueId val="{00000003-69A7-4690-A3C8-EF14A7565B0A}"/>
            </c:ext>
          </c:extLst>
        </c:ser>
        <c:ser>
          <c:idx val="4"/>
          <c:order val="4"/>
          <c:tx>
            <c:strRef>
              <c:f>Sheet1!$F$1</c:f>
              <c:strCache>
                <c:ptCount val="1"/>
                <c:pt idx="0">
                  <c:v>2018</c:v>
                </c:pt>
              </c:strCache>
            </c:strRef>
          </c:tx>
          <c:spPr>
            <a:ln w="31750" cap="flat">
              <a:solidFill>
                <a:srgbClr val="F5A623"/>
              </a:solidFill>
              <a:prstDash val="solid"/>
              <a:round/>
            </a:ln>
            <a:effectLst/>
          </c:spPr>
          <c:marker>
            <c:symbol val="circle"/>
            <c:size val="6"/>
            <c:spPr>
              <a:solidFill>
                <a:srgbClr val="F5A623"/>
              </a:solidFill>
              <a:ln w="9525" cap="flat">
                <a:solidFill>
                  <a:srgbClr val="F5A623"/>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Sheet1!$F$2:$F$13</c:f>
              <c:numCache>
                <c:formatCode>General</c:formatCode>
                <c:ptCount val="12"/>
                <c:pt idx="0">
                  <c:v>9.1300000000000008</c:v>
                </c:pt>
                <c:pt idx="1">
                  <c:v>8.7200000000000006</c:v>
                </c:pt>
              </c:numCache>
            </c:numRef>
          </c:val>
          <c:smooth val="0"/>
          <c:extLst>
            <c:ext xmlns:c16="http://schemas.microsoft.com/office/drawing/2014/chart" uri="{C3380CC4-5D6E-409C-BE32-E72D297353CC}">
              <c16:uniqueId val="{00000004-69A7-4690-A3C8-EF14A7565B0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B78"/>
                </a:solidFill>
                <a:latin typeface="+mn-lt"/>
              </a:defRPr>
            </a:pPr>
            <a:endParaRPr lang="en-US"/>
          </a:p>
        </c:txPr>
        <c:crossAx val="2094734552"/>
        <c:crosses val="autoZero"/>
        <c:auto val="1"/>
        <c:lblAlgn val="ctr"/>
        <c:lblOffset val="100"/>
        <c:noMultiLvlLbl val="1"/>
      </c:catAx>
      <c:valAx>
        <c:axId val="2094734552"/>
        <c:scaling>
          <c:orientation val="minMax"/>
          <c:max val="10.5"/>
          <c:min val="7"/>
        </c:scaling>
        <c:delete val="0"/>
        <c:axPos val="l"/>
        <c:majorGridlines>
          <c:spPr>
            <a:ln w="6350" cap="flat">
              <a:solidFill>
                <a:srgbClr val="E3E9F2"/>
              </a:solidFill>
              <a:prstDash val="solid"/>
              <a:round/>
            </a:ln>
          </c:spPr>
        </c:majorGridlines>
        <c:numFmt formatCode="\$0.0&quot;M&quot;" sourceLinked="0"/>
        <c:majorTickMark val="out"/>
        <c:minorTickMark val="none"/>
        <c:tickLblPos val="nextTo"/>
        <c:spPr>
          <a:ln w="12700" cap="flat">
            <a:noFill/>
            <a:prstDash val="solid"/>
            <a:round/>
          </a:ln>
        </c:spPr>
        <c:txPr>
          <a:bodyPr/>
          <a:lstStyle/>
          <a:p>
            <a:pPr>
              <a:defRPr sz="1200" b="0" i="0" u="none" strike="noStrike">
                <a:solidFill>
                  <a:srgbClr val="4A5B78"/>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200">
              <a:solidFill>
                <a:srgbClr val="4A5B7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0B2A5B"/>
                </a:solidFill>
                <a:latin typeface="+mn-lt"/>
              </a:defRPr>
            </a:pPr>
            <a:r>
              <a:rPr lang="en-IN" sz="1500" b="0" i="0" u="none" strike="noStrike">
                <a:solidFill>
                  <a:srgbClr val="0B2A5B"/>
                </a:solidFill>
                <a:latin typeface="+mn-lt"/>
              </a:rPr>
              <a:t>Revenue by channel</a:t>
            </a:r>
          </a:p>
        </c:rich>
      </c:tx>
      <c:overlay val="0"/>
    </c:title>
    <c:autoTitleDeleted val="0"/>
    <c:plotArea>
      <c:layout/>
      <c:doughnutChart>
        <c:varyColors val="1"/>
        <c:ser>
          <c:idx val="0"/>
          <c:order val="0"/>
          <c:tx>
            <c:strRef>
              <c:f>Sheet1!$B$1</c:f>
              <c:strCache>
                <c:ptCount val="1"/>
                <c:pt idx="0">
                  <c:v>Revenue by channel</c:v>
                </c:pt>
              </c:strCache>
            </c:strRef>
          </c:tx>
          <c:spPr>
            <a:solidFill>
              <a:schemeClr val="accent1"/>
            </a:solidFill>
            <a:ln w="9525" cap="flat">
              <a:solidFill>
                <a:srgbClr val="F9F9F9"/>
              </a:solidFill>
              <a:prstDash val="solid"/>
              <a:round/>
            </a:ln>
            <a:effectLst/>
          </c:spPr>
          <c:dPt>
            <c:idx val="0"/>
            <c:bubble3D val="0"/>
            <c:spPr>
              <a:solidFill>
                <a:srgbClr val="0B2A5B"/>
              </a:solidFill>
              <a:effectLst/>
            </c:spPr>
            <c:extLst>
              <c:ext xmlns:c16="http://schemas.microsoft.com/office/drawing/2014/chart" uri="{C3380CC4-5D6E-409C-BE32-E72D297353CC}">
                <c16:uniqueId val="{00000001-ECB8-48CC-8626-0075BDBD0E91}"/>
              </c:ext>
            </c:extLst>
          </c:dPt>
          <c:dPt>
            <c:idx val="1"/>
            <c:bubble3D val="0"/>
            <c:spPr>
              <a:solidFill>
                <a:srgbClr val="2F6FDB"/>
              </a:solidFill>
              <a:effectLst/>
            </c:spPr>
            <c:extLst>
              <c:ext xmlns:c16="http://schemas.microsoft.com/office/drawing/2014/chart" uri="{C3380CC4-5D6E-409C-BE32-E72D297353CC}">
                <c16:uniqueId val="{00000003-ECB8-48CC-8626-0075BDBD0E91}"/>
              </c:ext>
            </c:extLst>
          </c:dPt>
          <c:dPt>
            <c:idx val="2"/>
            <c:bubble3D val="0"/>
            <c:spPr>
              <a:solidFill>
                <a:srgbClr val="7FB2F0"/>
              </a:solidFill>
              <a:effectLst/>
            </c:spPr>
            <c:extLst>
              <c:ext xmlns:c16="http://schemas.microsoft.com/office/drawing/2014/chart" uri="{C3380CC4-5D6E-409C-BE32-E72D297353CC}">
                <c16:uniqueId val="{00000005-ECB8-48CC-8626-0075BDBD0E91}"/>
              </c:ext>
            </c:extLst>
          </c:dPt>
          <c:dLbls>
            <c:dLbl>
              <c:idx val="0"/>
              <c:numFmt formatCode="0%" sourceLinked="0"/>
              <c:spPr/>
              <c:txPr>
                <a:bodyPr/>
                <a:lstStyle/>
                <a:p>
                  <a:pPr>
                    <a:defRPr sz="13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CB8-48CC-8626-0075BDBD0E91}"/>
                </c:ext>
              </c:extLst>
            </c:dLbl>
            <c:dLbl>
              <c:idx val="1"/>
              <c:numFmt formatCode="0%" sourceLinked="0"/>
              <c:spPr/>
              <c:txPr>
                <a:bodyPr/>
                <a:lstStyle/>
                <a:p>
                  <a:pPr>
                    <a:defRPr sz="13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ECB8-48CC-8626-0075BDBD0E91}"/>
                </c:ext>
              </c:extLst>
            </c:dLbl>
            <c:dLbl>
              <c:idx val="2"/>
              <c:numFmt formatCode="0%" sourceLinked="0"/>
              <c:spPr/>
              <c:txPr>
                <a:bodyPr/>
                <a:lstStyle/>
                <a:p>
                  <a:pPr>
                    <a:defRPr sz="13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ECB8-48CC-8626-0075BDBD0E91}"/>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Wholesale</c:v>
                </c:pt>
                <c:pt idx="1">
                  <c:v>Distributor</c:v>
                </c:pt>
                <c:pt idx="2">
                  <c:v>Export</c:v>
                </c:pt>
              </c:strCache>
            </c:strRef>
          </c:cat>
          <c:val>
            <c:numRef>
              <c:f>Sheet1!$B$2:$B$4</c:f>
              <c:numCache>
                <c:formatCode>General</c:formatCode>
                <c:ptCount val="3"/>
                <c:pt idx="0">
                  <c:v>668.2</c:v>
                </c:pt>
                <c:pt idx="1">
                  <c:v>387.1</c:v>
                </c:pt>
                <c:pt idx="2">
                  <c:v>180.6</c:v>
                </c:pt>
              </c:numCache>
            </c:numRef>
          </c:val>
          <c:extLst>
            <c:ext xmlns:c16="http://schemas.microsoft.com/office/drawing/2014/chart" uri="{C3380CC4-5D6E-409C-BE32-E72D297353CC}">
              <c16:uniqueId val="{00000006-ECB8-48CC-8626-0075BDBD0E91}"/>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4A5B7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0B2A5B"/>
                </a:solidFill>
                <a:latin typeface="+mn-lt"/>
              </a:defRPr>
            </a:pPr>
            <a:r>
              <a:rPr lang="en-IN" sz="1500" b="0" i="0" u="none" strike="noStrike">
                <a:solidFill>
                  <a:srgbClr val="0B2A5B"/>
                </a:solidFill>
                <a:latin typeface="+mn-lt"/>
              </a:rPr>
              <a:t>Profit by channel</a:t>
            </a:r>
          </a:p>
        </c:rich>
      </c:tx>
      <c:overlay val="0"/>
    </c:title>
    <c:autoTitleDeleted val="0"/>
    <c:plotArea>
      <c:layout/>
      <c:doughnutChart>
        <c:varyColors val="1"/>
        <c:ser>
          <c:idx val="0"/>
          <c:order val="0"/>
          <c:tx>
            <c:strRef>
              <c:f>Sheet1!$B$1</c:f>
              <c:strCache>
                <c:ptCount val="1"/>
                <c:pt idx="0">
                  <c:v>Profit by channel</c:v>
                </c:pt>
              </c:strCache>
            </c:strRef>
          </c:tx>
          <c:spPr>
            <a:solidFill>
              <a:schemeClr val="accent1"/>
            </a:solidFill>
            <a:ln w="9525" cap="flat">
              <a:solidFill>
                <a:srgbClr val="F9F9F9"/>
              </a:solidFill>
              <a:prstDash val="solid"/>
              <a:round/>
            </a:ln>
            <a:effectLst/>
          </c:spPr>
          <c:dPt>
            <c:idx val="0"/>
            <c:bubble3D val="0"/>
            <c:spPr>
              <a:solidFill>
                <a:srgbClr val="0B2A5B"/>
              </a:solidFill>
              <a:effectLst/>
            </c:spPr>
            <c:extLst>
              <c:ext xmlns:c16="http://schemas.microsoft.com/office/drawing/2014/chart" uri="{C3380CC4-5D6E-409C-BE32-E72D297353CC}">
                <c16:uniqueId val="{00000001-4D05-4F9C-BB06-1FC34D280450}"/>
              </c:ext>
            </c:extLst>
          </c:dPt>
          <c:dPt>
            <c:idx val="1"/>
            <c:bubble3D val="0"/>
            <c:spPr>
              <a:solidFill>
                <a:srgbClr val="2F6FDB"/>
              </a:solidFill>
              <a:effectLst/>
            </c:spPr>
            <c:extLst>
              <c:ext xmlns:c16="http://schemas.microsoft.com/office/drawing/2014/chart" uri="{C3380CC4-5D6E-409C-BE32-E72D297353CC}">
                <c16:uniqueId val="{00000003-4D05-4F9C-BB06-1FC34D280450}"/>
              </c:ext>
            </c:extLst>
          </c:dPt>
          <c:dPt>
            <c:idx val="2"/>
            <c:bubble3D val="0"/>
            <c:spPr>
              <a:solidFill>
                <a:srgbClr val="7FB2F0"/>
              </a:solidFill>
              <a:effectLst/>
            </c:spPr>
            <c:extLst>
              <c:ext xmlns:c16="http://schemas.microsoft.com/office/drawing/2014/chart" uri="{C3380CC4-5D6E-409C-BE32-E72D297353CC}">
                <c16:uniqueId val="{00000005-4D05-4F9C-BB06-1FC34D280450}"/>
              </c:ext>
            </c:extLst>
          </c:dPt>
          <c:dLbls>
            <c:dLbl>
              <c:idx val="0"/>
              <c:numFmt formatCode="0%" sourceLinked="0"/>
              <c:spPr/>
              <c:txPr>
                <a:bodyPr/>
                <a:lstStyle/>
                <a:p>
                  <a:pPr>
                    <a:defRPr sz="13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D05-4F9C-BB06-1FC34D280450}"/>
                </c:ext>
              </c:extLst>
            </c:dLbl>
            <c:dLbl>
              <c:idx val="1"/>
              <c:numFmt formatCode="0%" sourceLinked="0"/>
              <c:spPr/>
              <c:txPr>
                <a:bodyPr/>
                <a:lstStyle/>
                <a:p>
                  <a:pPr>
                    <a:defRPr sz="13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D05-4F9C-BB06-1FC34D280450}"/>
                </c:ext>
              </c:extLst>
            </c:dLbl>
            <c:dLbl>
              <c:idx val="2"/>
              <c:numFmt formatCode="0%" sourceLinked="0"/>
              <c:spPr/>
              <c:txPr>
                <a:bodyPr/>
                <a:lstStyle/>
                <a:p>
                  <a:pPr>
                    <a:defRPr sz="13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D05-4F9C-BB06-1FC34D280450}"/>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Wholesale</c:v>
                </c:pt>
                <c:pt idx="1">
                  <c:v>Distributor</c:v>
                </c:pt>
                <c:pt idx="2">
                  <c:v>Export</c:v>
                </c:pt>
              </c:strCache>
            </c:strRef>
          </c:cat>
          <c:val>
            <c:numRef>
              <c:f>Sheet1!$B$2:$B$4</c:f>
              <c:numCache>
                <c:formatCode>General</c:formatCode>
                <c:ptCount val="3"/>
                <c:pt idx="0">
                  <c:v>247.3</c:v>
                </c:pt>
                <c:pt idx="1">
                  <c:v>145.80000000000001</c:v>
                </c:pt>
                <c:pt idx="2">
                  <c:v>68.7</c:v>
                </c:pt>
              </c:numCache>
            </c:numRef>
          </c:val>
          <c:extLst>
            <c:ext xmlns:c16="http://schemas.microsoft.com/office/drawing/2014/chart" uri="{C3380CC4-5D6E-409C-BE32-E72D297353CC}">
              <c16:uniqueId val="{00000006-4D05-4F9C-BB06-1FC34D280450}"/>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4A5B7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0B2A5B"/>
                </a:solidFill>
                <a:latin typeface="+mn-lt"/>
              </a:defRPr>
            </a:pPr>
            <a:r>
              <a:rPr lang="en-IN" sz="1500" b="0" i="0" u="none" strike="noStrike">
                <a:solidFill>
                  <a:srgbClr val="0B2A5B"/>
                </a:solidFill>
                <a:latin typeface="+mn-lt"/>
              </a:rPr>
              <a:t>Profit margin by channel</a:t>
            </a:r>
          </a:p>
        </c:rich>
      </c:tx>
      <c:overlay val="0"/>
    </c:title>
    <c:autoTitleDeleted val="0"/>
    <c:plotArea>
      <c:layout/>
      <c:doughnutChart>
        <c:varyColors val="1"/>
        <c:ser>
          <c:idx val="0"/>
          <c:order val="0"/>
          <c:tx>
            <c:strRef>
              <c:f>Sheet1!$B$1</c:f>
              <c:strCache>
                <c:ptCount val="1"/>
                <c:pt idx="0">
                  <c:v>Profit margin by channel</c:v>
                </c:pt>
              </c:strCache>
            </c:strRef>
          </c:tx>
          <c:spPr>
            <a:solidFill>
              <a:schemeClr val="accent1"/>
            </a:solidFill>
            <a:ln w="9525" cap="flat">
              <a:solidFill>
                <a:srgbClr val="F9F9F9"/>
              </a:solidFill>
              <a:prstDash val="solid"/>
              <a:round/>
            </a:ln>
            <a:effectLst/>
          </c:spPr>
          <c:dPt>
            <c:idx val="0"/>
            <c:bubble3D val="0"/>
            <c:spPr>
              <a:solidFill>
                <a:srgbClr val="0B2A5B"/>
              </a:solidFill>
              <a:effectLst/>
            </c:spPr>
            <c:extLst>
              <c:ext xmlns:c16="http://schemas.microsoft.com/office/drawing/2014/chart" uri="{C3380CC4-5D6E-409C-BE32-E72D297353CC}">
                <c16:uniqueId val="{00000001-369C-43E2-B3A9-5BD47D2B4A51}"/>
              </c:ext>
            </c:extLst>
          </c:dPt>
          <c:dPt>
            <c:idx val="1"/>
            <c:bubble3D val="0"/>
            <c:spPr>
              <a:solidFill>
                <a:srgbClr val="2F6FDB"/>
              </a:solidFill>
              <a:effectLst/>
            </c:spPr>
            <c:extLst>
              <c:ext xmlns:c16="http://schemas.microsoft.com/office/drawing/2014/chart" uri="{C3380CC4-5D6E-409C-BE32-E72D297353CC}">
                <c16:uniqueId val="{00000003-369C-43E2-B3A9-5BD47D2B4A51}"/>
              </c:ext>
            </c:extLst>
          </c:dPt>
          <c:dPt>
            <c:idx val="2"/>
            <c:bubble3D val="0"/>
            <c:spPr>
              <a:solidFill>
                <a:srgbClr val="7FB2F0"/>
              </a:solidFill>
              <a:effectLst/>
            </c:spPr>
            <c:extLst>
              <c:ext xmlns:c16="http://schemas.microsoft.com/office/drawing/2014/chart" uri="{C3380CC4-5D6E-409C-BE32-E72D297353CC}">
                <c16:uniqueId val="{00000005-369C-43E2-B3A9-5BD47D2B4A51}"/>
              </c:ext>
            </c:extLst>
          </c:dPt>
          <c:dLbls>
            <c:dLbl>
              <c:idx val="0"/>
              <c:numFmt formatCode="0.0&quot;%&quot;" sourceLinked="0"/>
              <c:spPr/>
              <c:txPr>
                <a:bodyPr/>
                <a:lstStyle/>
                <a:p>
                  <a:pPr>
                    <a:defRPr sz="13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69C-43E2-B3A9-5BD47D2B4A51}"/>
                </c:ext>
              </c:extLst>
            </c:dLbl>
            <c:dLbl>
              <c:idx val="1"/>
              <c:numFmt formatCode="0.0&quot;%&quot;" sourceLinked="0"/>
              <c:spPr/>
              <c:txPr>
                <a:bodyPr/>
                <a:lstStyle/>
                <a:p>
                  <a:pPr>
                    <a:defRPr sz="13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69C-43E2-B3A9-5BD47D2B4A51}"/>
                </c:ext>
              </c:extLst>
            </c:dLbl>
            <c:dLbl>
              <c:idx val="2"/>
              <c:numFmt formatCode="0.0&quot;%&quot;" sourceLinked="0"/>
              <c:spPr/>
              <c:txPr>
                <a:bodyPr/>
                <a:lstStyle/>
                <a:p>
                  <a:pPr>
                    <a:defRPr sz="13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69C-43E2-B3A9-5BD47D2B4A51}"/>
                </c:ext>
              </c:extLst>
            </c:dLbl>
            <c:numFmt formatCode="0.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Wholesale</c:v>
                </c:pt>
                <c:pt idx="1">
                  <c:v>Distributor</c:v>
                </c:pt>
                <c:pt idx="2">
                  <c:v>Export</c:v>
                </c:pt>
              </c:strCache>
            </c:strRef>
          </c:cat>
          <c:val>
            <c:numRef>
              <c:f>Sheet1!$B$2:$B$4</c:f>
              <c:numCache>
                <c:formatCode>General</c:formatCode>
                <c:ptCount val="3"/>
                <c:pt idx="0">
                  <c:v>37.020000000000003</c:v>
                </c:pt>
                <c:pt idx="1">
                  <c:v>37.65</c:v>
                </c:pt>
                <c:pt idx="2">
                  <c:v>38.01</c:v>
                </c:pt>
              </c:numCache>
            </c:numRef>
          </c:val>
          <c:extLst>
            <c:ext xmlns:c16="http://schemas.microsoft.com/office/drawing/2014/chart" uri="{C3380CC4-5D6E-409C-BE32-E72D297353CC}">
              <c16:uniqueId val="{00000006-369C-43E2-B3A9-5BD47D2B4A51}"/>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4A5B7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Top 5 by revenue</c:v>
                </c:pt>
              </c:strCache>
            </c:strRef>
          </c:tx>
          <c:spPr>
            <a:solidFill>
              <a:srgbClr val="0B2A5B"/>
            </a:solidFill>
            <a:effectLst/>
          </c:spPr>
          <c:invertIfNegative val="0"/>
          <c:dLbls>
            <c:numFmt formatCode="\$0.0&quot;M&quot;" sourceLinked="0"/>
            <c:spPr>
              <a:noFill/>
              <a:ln>
                <a:noFill/>
              </a:ln>
              <a:effectLst/>
            </c:spPr>
            <c:txPr>
              <a:bodyPr/>
              <a:lstStyle/>
              <a:p>
                <a:pPr>
                  <a:defRPr sz="12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Aibox Company</c:v>
                </c:pt>
                <c:pt idx="1">
                  <c:v>State Ltd</c:v>
                </c:pt>
                <c:pt idx="2">
                  <c:v>Pixoboo Corp</c:v>
                </c:pt>
                <c:pt idx="3">
                  <c:v>Organon Corp</c:v>
                </c:pt>
                <c:pt idx="4">
                  <c:v>Realbuzz Ltd</c:v>
                </c:pt>
              </c:strCache>
            </c:strRef>
          </c:cat>
          <c:val>
            <c:numRef>
              <c:f>Sheet1!$B$2:$B$6</c:f>
              <c:numCache>
                <c:formatCode>General</c:formatCode>
                <c:ptCount val="5"/>
                <c:pt idx="0">
                  <c:v>12.64</c:v>
                </c:pt>
                <c:pt idx="1">
                  <c:v>12.22</c:v>
                </c:pt>
                <c:pt idx="2">
                  <c:v>10.99</c:v>
                </c:pt>
                <c:pt idx="3">
                  <c:v>10.96</c:v>
                </c:pt>
                <c:pt idx="4">
                  <c:v>10.75</c:v>
                </c:pt>
              </c:numCache>
            </c:numRef>
          </c:val>
          <c:extLst>
            <c:ext xmlns:c16="http://schemas.microsoft.com/office/drawing/2014/chart" uri="{C3380CC4-5D6E-409C-BE32-E72D297353CC}">
              <c16:uniqueId val="{00000000-13D5-4297-921E-3FDBB48EBD69}"/>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B78"/>
                </a:solidFill>
                <a:latin typeface="+mn-lt"/>
              </a:defRPr>
            </a:pPr>
            <a:endParaRPr lang="en-US"/>
          </a:p>
        </c:txPr>
        <c:crossAx val="2094734552"/>
        <c:crosses val="autoZero"/>
        <c:auto val="1"/>
        <c:lblAlgn val="ctr"/>
        <c:lblOffset val="100"/>
        <c:noMultiLvlLbl val="1"/>
      </c:catAx>
      <c:valAx>
        <c:axId val="2094734552"/>
        <c:scaling>
          <c:orientation val="minMax"/>
          <c:max val="16"/>
          <c:min val="0"/>
        </c:scaling>
        <c:delete val="1"/>
        <c:axPos val="t"/>
        <c:majorGridlines>
          <c:spPr>
            <a:ln w="6350" cap="flat">
              <a:solidFill>
                <a:srgbClr val="E3E9F2"/>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Bottom 5 by revenue</c:v>
                </c:pt>
              </c:strCache>
            </c:strRef>
          </c:tx>
          <c:spPr>
            <a:solidFill>
              <a:srgbClr val="7FB2F0"/>
            </a:solidFill>
            <a:effectLst/>
          </c:spPr>
          <c:invertIfNegative val="0"/>
          <c:dLbls>
            <c:numFmt formatCode="\$0.0&quot;M&quot;" sourceLinked="0"/>
            <c:spPr>
              <a:noFill/>
              <a:ln>
                <a:noFill/>
              </a:ln>
              <a:effectLst/>
            </c:spPr>
            <c:txPr>
              <a:bodyPr/>
              <a:lstStyle/>
              <a:p>
                <a:pPr>
                  <a:defRPr sz="12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BB17 Company</c:v>
                </c:pt>
                <c:pt idx="1">
                  <c:v>Yodoo Ltd</c:v>
                </c:pt>
                <c:pt idx="2">
                  <c:v>Mycone Ltd</c:v>
                </c:pt>
                <c:pt idx="3">
                  <c:v>Voonyx Group</c:v>
                </c:pt>
                <c:pt idx="4">
                  <c:v>SEINDNI Corp</c:v>
                </c:pt>
              </c:strCache>
            </c:strRef>
          </c:cat>
          <c:val>
            <c:numRef>
              <c:f>Sheet1!$B$2:$B$6</c:f>
              <c:numCache>
                <c:formatCode>General</c:formatCode>
                <c:ptCount val="5"/>
                <c:pt idx="0">
                  <c:v>4.03</c:v>
                </c:pt>
                <c:pt idx="1">
                  <c:v>4.37</c:v>
                </c:pt>
                <c:pt idx="2">
                  <c:v>4.53</c:v>
                </c:pt>
                <c:pt idx="3">
                  <c:v>4.67</c:v>
                </c:pt>
                <c:pt idx="4">
                  <c:v>4.76</c:v>
                </c:pt>
              </c:numCache>
            </c:numRef>
          </c:val>
          <c:extLst>
            <c:ext xmlns:c16="http://schemas.microsoft.com/office/drawing/2014/chart" uri="{C3380CC4-5D6E-409C-BE32-E72D297353CC}">
              <c16:uniqueId val="{00000000-58DA-4C21-AAC7-06B533871DE5}"/>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B78"/>
                </a:solidFill>
                <a:latin typeface="+mn-lt"/>
              </a:defRPr>
            </a:pPr>
            <a:endParaRPr lang="en-US"/>
          </a:p>
        </c:txPr>
        <c:crossAx val="2094734552"/>
        <c:crosses val="autoZero"/>
        <c:auto val="1"/>
        <c:lblAlgn val="ctr"/>
        <c:lblOffset val="100"/>
        <c:noMultiLvlLbl val="1"/>
      </c:catAx>
      <c:valAx>
        <c:axId val="2094734552"/>
        <c:scaling>
          <c:orientation val="minMax"/>
          <c:max val="16"/>
          <c:min val="0"/>
        </c:scaling>
        <c:delete val="1"/>
        <c:axPos val="t"/>
        <c:majorGridlines>
          <c:spPr>
            <a:ln w="6350" cap="flat">
              <a:solidFill>
                <a:srgbClr val="E3E9F2"/>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Top 5 by profit margin</c:v>
                </c:pt>
              </c:strCache>
            </c:strRef>
          </c:tx>
          <c:spPr>
            <a:solidFill>
              <a:srgbClr val="0B2A5B"/>
            </a:solidFill>
            <a:effectLst/>
          </c:spPr>
          <c:invertIfNegative val="0"/>
          <c:dLbls>
            <c:numFmt formatCode="0.0&quot;%&quot;" sourceLinked="0"/>
            <c:spPr>
              <a:noFill/>
              <a:ln>
                <a:noFill/>
              </a:ln>
              <a:effectLst/>
            </c:spPr>
            <c:txPr>
              <a:bodyPr/>
              <a:lstStyle/>
              <a:p>
                <a:pPr>
                  <a:defRPr sz="12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Revitol Company</c:v>
                </c:pt>
                <c:pt idx="1">
                  <c:v>Neutrogena Ltd</c:v>
                </c:pt>
                <c:pt idx="2">
                  <c:v>Safecor Corp</c:v>
                </c:pt>
                <c:pt idx="3">
                  <c:v>Linkbuzz Ltd</c:v>
                </c:pt>
                <c:pt idx="4">
                  <c:v>Cadila Ltd</c:v>
                </c:pt>
              </c:strCache>
            </c:strRef>
          </c:cat>
          <c:val>
            <c:numRef>
              <c:f>Sheet1!$B$2:$B$6</c:f>
              <c:numCache>
                <c:formatCode>General</c:formatCode>
                <c:ptCount val="5"/>
                <c:pt idx="0">
                  <c:v>42.85</c:v>
                </c:pt>
                <c:pt idx="1">
                  <c:v>42.57</c:v>
                </c:pt>
                <c:pt idx="2">
                  <c:v>42.55</c:v>
                </c:pt>
                <c:pt idx="3">
                  <c:v>42.29</c:v>
                </c:pt>
                <c:pt idx="4">
                  <c:v>42.26</c:v>
                </c:pt>
              </c:numCache>
            </c:numRef>
          </c:val>
          <c:extLst>
            <c:ext xmlns:c16="http://schemas.microsoft.com/office/drawing/2014/chart" uri="{C3380CC4-5D6E-409C-BE32-E72D297353CC}">
              <c16:uniqueId val="{00000000-93F7-4202-8042-A973B2938491}"/>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B78"/>
                </a:solidFill>
                <a:latin typeface="+mn-lt"/>
              </a:defRPr>
            </a:pPr>
            <a:endParaRPr lang="en-US"/>
          </a:p>
        </c:txPr>
        <c:crossAx val="2094734552"/>
        <c:crosses val="autoZero"/>
        <c:auto val="1"/>
        <c:lblAlgn val="ctr"/>
        <c:lblOffset val="100"/>
        <c:noMultiLvlLbl val="1"/>
      </c:catAx>
      <c:valAx>
        <c:axId val="2094734552"/>
        <c:scaling>
          <c:orientation val="minMax"/>
          <c:max val="50"/>
          <c:min val="0"/>
        </c:scaling>
        <c:delete val="1"/>
        <c:axPos val="t"/>
        <c:majorGridlines>
          <c:spPr>
            <a:ln w="6350" cap="flat">
              <a:solidFill>
                <a:srgbClr val="E3E9F2"/>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Bottom 5 by profit margin</c:v>
                </c:pt>
              </c:strCache>
            </c:strRef>
          </c:tx>
          <c:spPr>
            <a:solidFill>
              <a:srgbClr val="F5A623"/>
            </a:solidFill>
            <a:effectLst/>
          </c:spPr>
          <c:invertIfNegative val="0"/>
          <c:dLbls>
            <c:numFmt formatCode="0.0&quot;%&quot;" sourceLinked="0"/>
            <c:spPr>
              <a:noFill/>
              <a:ln>
                <a:noFill/>
              </a:ln>
              <a:effectLst/>
            </c:spPr>
            <c:txPr>
              <a:bodyPr/>
              <a:lstStyle/>
              <a:p>
                <a:pPr>
                  <a:defRPr sz="12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Twitterbri Ltd</c:v>
                </c:pt>
                <c:pt idx="1">
                  <c:v>Oba Company</c:v>
                </c:pt>
                <c:pt idx="2">
                  <c:v>Ozu Ltd</c:v>
                </c:pt>
                <c:pt idx="3">
                  <c:v>Eayo Company</c:v>
                </c:pt>
                <c:pt idx="4">
                  <c:v>Dynazzy Company</c:v>
                </c:pt>
              </c:strCache>
            </c:strRef>
          </c:cat>
          <c:val>
            <c:numRef>
              <c:f>Sheet1!$B$2:$B$6</c:f>
              <c:numCache>
                <c:formatCode>General</c:formatCode>
                <c:ptCount val="5"/>
                <c:pt idx="0">
                  <c:v>32.549999999999997</c:v>
                </c:pt>
                <c:pt idx="1">
                  <c:v>32.619999999999997</c:v>
                </c:pt>
                <c:pt idx="2">
                  <c:v>33.11</c:v>
                </c:pt>
                <c:pt idx="3">
                  <c:v>33.22</c:v>
                </c:pt>
                <c:pt idx="4">
                  <c:v>33.450000000000003</c:v>
                </c:pt>
              </c:numCache>
            </c:numRef>
          </c:val>
          <c:extLst>
            <c:ext xmlns:c16="http://schemas.microsoft.com/office/drawing/2014/chart" uri="{C3380CC4-5D6E-409C-BE32-E72D297353CC}">
              <c16:uniqueId val="{00000000-8062-49DA-BA88-2A7CD487DA63}"/>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B78"/>
                </a:solidFill>
                <a:latin typeface="+mn-lt"/>
              </a:defRPr>
            </a:pPr>
            <a:endParaRPr lang="en-US"/>
          </a:p>
        </c:txPr>
        <c:crossAx val="2094734552"/>
        <c:crosses val="autoZero"/>
        <c:auto val="1"/>
        <c:lblAlgn val="ctr"/>
        <c:lblOffset val="100"/>
        <c:noMultiLvlLbl val="1"/>
      </c:catAx>
      <c:valAx>
        <c:axId val="2094734552"/>
        <c:scaling>
          <c:orientation val="minMax"/>
          <c:max val="50"/>
          <c:min val="0"/>
        </c:scaling>
        <c:delete val="1"/>
        <c:axPos val="t"/>
        <c:majorGridlines>
          <c:spPr>
            <a:ln w="6350" cap="flat">
              <a:solidFill>
                <a:srgbClr val="E3E9F2"/>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Top 5 states by revenue</c:v>
                </c:pt>
              </c:strCache>
            </c:strRef>
          </c:tx>
          <c:spPr>
            <a:solidFill>
              <a:srgbClr val="0B2A5B"/>
            </a:solidFill>
            <a:effectLst/>
          </c:spPr>
          <c:invertIfNegative val="0"/>
          <c:dLbls>
            <c:numFmt formatCode="\$0.0&quot;M&quot;" sourceLinked="0"/>
            <c:spPr>
              <a:noFill/>
              <a:ln>
                <a:noFill/>
              </a:ln>
              <a:effectLst/>
            </c:spPr>
            <c:txPr>
              <a:bodyPr/>
              <a:lstStyle/>
              <a:p>
                <a:pPr>
                  <a:defRPr sz="12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California</c:v>
                </c:pt>
                <c:pt idx="1">
                  <c:v>Illinois</c:v>
                </c:pt>
                <c:pt idx="2">
                  <c:v>Florida</c:v>
                </c:pt>
                <c:pt idx="3">
                  <c:v>Texas</c:v>
                </c:pt>
                <c:pt idx="4">
                  <c:v>New York</c:v>
                </c:pt>
              </c:strCache>
            </c:strRef>
          </c:cat>
          <c:val>
            <c:numRef>
              <c:f>Sheet1!$B$2:$B$6</c:f>
              <c:numCache>
                <c:formatCode>General</c:formatCode>
                <c:ptCount val="5"/>
                <c:pt idx="0">
                  <c:v>228.8</c:v>
                </c:pt>
                <c:pt idx="1">
                  <c:v>111.1</c:v>
                </c:pt>
                <c:pt idx="2">
                  <c:v>90.2</c:v>
                </c:pt>
                <c:pt idx="3">
                  <c:v>84</c:v>
                </c:pt>
                <c:pt idx="4">
                  <c:v>55.5</c:v>
                </c:pt>
              </c:numCache>
            </c:numRef>
          </c:val>
          <c:extLst>
            <c:ext xmlns:c16="http://schemas.microsoft.com/office/drawing/2014/chart" uri="{C3380CC4-5D6E-409C-BE32-E72D297353CC}">
              <c16:uniqueId val="{00000000-9A53-44B1-947E-6A49AEF8082C}"/>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B78"/>
                </a:solidFill>
                <a:latin typeface="+mn-lt"/>
              </a:defRPr>
            </a:pPr>
            <a:endParaRPr lang="en-US"/>
          </a:p>
        </c:txPr>
        <c:crossAx val="2094734552"/>
        <c:crosses val="autoZero"/>
        <c:auto val="1"/>
        <c:lblAlgn val="ctr"/>
        <c:lblOffset val="100"/>
        <c:noMultiLvlLbl val="1"/>
      </c:catAx>
      <c:valAx>
        <c:axId val="2094734552"/>
        <c:scaling>
          <c:orientation val="minMax"/>
          <c:max val="280"/>
          <c:min val="0"/>
        </c:scaling>
        <c:delete val="1"/>
        <c:axPos val="t"/>
        <c:majorGridlines>
          <c:spPr>
            <a:ln w="6350" cap="flat">
              <a:solidFill>
                <a:srgbClr val="E3E9F2"/>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Bottom 5 states (different scale)</c:v>
                </c:pt>
              </c:strCache>
            </c:strRef>
          </c:tx>
          <c:spPr>
            <a:solidFill>
              <a:srgbClr val="7FB2F0"/>
            </a:solidFill>
            <a:effectLst/>
          </c:spPr>
          <c:invertIfNegative val="0"/>
          <c:dLbls>
            <c:numFmt formatCode="\$0.0&quot;M&quot;" sourceLinked="0"/>
            <c:spPr>
              <a:noFill/>
              <a:ln>
                <a:noFill/>
              </a:ln>
              <a:effectLst/>
            </c:spPr>
            <c:txPr>
              <a:bodyPr/>
              <a:lstStyle/>
              <a:p>
                <a:pPr>
                  <a:defRPr sz="12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Delaware</c:v>
                </c:pt>
                <c:pt idx="1">
                  <c:v>Maine</c:v>
                </c:pt>
                <c:pt idx="2">
                  <c:v>District of Columbia</c:v>
                </c:pt>
                <c:pt idx="3">
                  <c:v>South Dakota</c:v>
                </c:pt>
                <c:pt idx="4">
                  <c:v>Wyoming</c:v>
                </c:pt>
              </c:strCache>
            </c:strRef>
          </c:cat>
          <c:val>
            <c:numRef>
              <c:f>Sheet1!$B$2:$B$6</c:f>
              <c:numCache>
                <c:formatCode>General</c:formatCode>
                <c:ptCount val="5"/>
                <c:pt idx="0">
                  <c:v>1.25</c:v>
                </c:pt>
                <c:pt idx="1">
                  <c:v>1.57</c:v>
                </c:pt>
                <c:pt idx="2">
                  <c:v>1.67</c:v>
                </c:pt>
                <c:pt idx="3">
                  <c:v>1.68</c:v>
                </c:pt>
                <c:pt idx="4">
                  <c:v>1.77</c:v>
                </c:pt>
              </c:numCache>
            </c:numRef>
          </c:val>
          <c:extLst>
            <c:ext xmlns:c16="http://schemas.microsoft.com/office/drawing/2014/chart" uri="{C3380CC4-5D6E-409C-BE32-E72D297353CC}">
              <c16:uniqueId val="{00000000-2F66-48DF-B60A-05AD2B4D24EE}"/>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B78"/>
                </a:solidFill>
                <a:latin typeface="+mn-lt"/>
              </a:defRPr>
            </a:pPr>
            <a:endParaRPr lang="en-US"/>
          </a:p>
        </c:txPr>
        <c:crossAx val="2094734552"/>
        <c:crosses val="autoZero"/>
        <c:auto val="1"/>
        <c:lblAlgn val="ctr"/>
        <c:lblOffset val="100"/>
        <c:noMultiLvlLbl val="1"/>
      </c:catAx>
      <c:valAx>
        <c:axId val="2094734552"/>
        <c:scaling>
          <c:orientation val="minMax"/>
          <c:max val="2.4"/>
          <c:min val="0"/>
        </c:scaling>
        <c:delete val="1"/>
        <c:axPos val="t"/>
        <c:majorGridlines>
          <c:spPr>
            <a:ln w="6350" cap="flat">
              <a:solidFill>
                <a:srgbClr val="E3E9F2"/>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0B2A5B"/>
                </a:solidFill>
                <a:latin typeface="+mn-lt"/>
              </a:defRPr>
            </a:pPr>
            <a:r>
              <a:rPr lang="en-IN" sz="1500" b="0" i="0" u="none" strike="noStrike">
                <a:solidFill>
                  <a:srgbClr val="0B2A5B"/>
                </a:solidFill>
                <a:latin typeface="+mn-lt"/>
              </a:rPr>
              <a:t>Revenue by region</a:t>
            </a:r>
          </a:p>
        </c:rich>
      </c:tx>
      <c:overlay val="0"/>
    </c:title>
    <c:autoTitleDeleted val="0"/>
    <c:plotArea>
      <c:layout/>
      <c:doughnutChart>
        <c:varyColors val="1"/>
        <c:ser>
          <c:idx val="0"/>
          <c:order val="0"/>
          <c:tx>
            <c:strRef>
              <c:f>Sheet1!$B$1</c:f>
              <c:strCache>
                <c:ptCount val="1"/>
                <c:pt idx="0">
                  <c:v>Revenue by region</c:v>
                </c:pt>
              </c:strCache>
            </c:strRef>
          </c:tx>
          <c:spPr>
            <a:solidFill>
              <a:schemeClr val="accent1"/>
            </a:solidFill>
            <a:ln w="9525" cap="flat">
              <a:solidFill>
                <a:srgbClr val="F9F9F9"/>
              </a:solidFill>
              <a:prstDash val="solid"/>
              <a:round/>
            </a:ln>
            <a:effectLst/>
          </c:spPr>
          <c:dPt>
            <c:idx val="0"/>
            <c:bubble3D val="0"/>
            <c:spPr>
              <a:solidFill>
                <a:srgbClr val="0B2A5B"/>
              </a:solidFill>
              <a:effectLst/>
            </c:spPr>
            <c:extLst>
              <c:ext xmlns:c16="http://schemas.microsoft.com/office/drawing/2014/chart" uri="{C3380CC4-5D6E-409C-BE32-E72D297353CC}">
                <c16:uniqueId val="{00000001-89AD-4518-9169-3D00E10EA88C}"/>
              </c:ext>
            </c:extLst>
          </c:dPt>
          <c:dPt>
            <c:idx val="1"/>
            <c:bubble3D val="0"/>
            <c:spPr>
              <a:solidFill>
                <a:srgbClr val="2F6FDB"/>
              </a:solidFill>
              <a:effectLst/>
            </c:spPr>
            <c:extLst>
              <c:ext xmlns:c16="http://schemas.microsoft.com/office/drawing/2014/chart" uri="{C3380CC4-5D6E-409C-BE32-E72D297353CC}">
                <c16:uniqueId val="{00000003-89AD-4518-9169-3D00E10EA88C}"/>
              </c:ext>
            </c:extLst>
          </c:dPt>
          <c:dPt>
            <c:idx val="2"/>
            <c:bubble3D val="0"/>
            <c:spPr>
              <a:solidFill>
                <a:srgbClr val="7FB2F0"/>
              </a:solidFill>
              <a:effectLst/>
            </c:spPr>
            <c:extLst>
              <c:ext xmlns:c16="http://schemas.microsoft.com/office/drawing/2014/chart" uri="{C3380CC4-5D6E-409C-BE32-E72D297353CC}">
                <c16:uniqueId val="{00000005-89AD-4518-9169-3D00E10EA88C}"/>
              </c:ext>
            </c:extLst>
          </c:dPt>
          <c:dPt>
            <c:idx val="3"/>
            <c:bubble3D val="0"/>
            <c:spPr>
              <a:solidFill>
                <a:srgbClr val="F5A623"/>
              </a:solidFill>
              <a:effectLst/>
            </c:spPr>
            <c:extLst>
              <c:ext xmlns:c16="http://schemas.microsoft.com/office/drawing/2014/chart" uri="{C3380CC4-5D6E-409C-BE32-E72D297353CC}">
                <c16:uniqueId val="{00000007-89AD-4518-9169-3D00E10EA88C}"/>
              </c:ext>
            </c:extLst>
          </c:dPt>
          <c:dLbls>
            <c:dLbl>
              <c:idx val="0"/>
              <c:numFmt formatCode="0%" sourceLinked="0"/>
              <c:spPr/>
              <c:txPr>
                <a:bodyPr/>
                <a:lstStyle/>
                <a:p>
                  <a:pPr>
                    <a:defRPr sz="13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9AD-4518-9169-3D00E10EA88C}"/>
                </c:ext>
              </c:extLst>
            </c:dLbl>
            <c:dLbl>
              <c:idx val="1"/>
              <c:numFmt formatCode="0%" sourceLinked="0"/>
              <c:spPr/>
              <c:txPr>
                <a:bodyPr/>
                <a:lstStyle/>
                <a:p>
                  <a:pPr>
                    <a:defRPr sz="13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9AD-4518-9169-3D00E10EA88C}"/>
                </c:ext>
              </c:extLst>
            </c:dLbl>
            <c:dLbl>
              <c:idx val="2"/>
              <c:numFmt formatCode="0%" sourceLinked="0"/>
              <c:spPr/>
              <c:txPr>
                <a:bodyPr/>
                <a:lstStyle/>
                <a:p>
                  <a:pPr>
                    <a:defRPr sz="13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9AD-4518-9169-3D00E10EA88C}"/>
                </c:ext>
              </c:extLst>
            </c:dLbl>
            <c:dLbl>
              <c:idx val="3"/>
              <c:numFmt formatCode="0%" sourceLinked="0"/>
              <c:spPr/>
              <c:txPr>
                <a:bodyPr/>
                <a:lstStyle/>
                <a:p>
                  <a:pPr>
                    <a:defRPr sz="13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89AD-4518-9169-3D00E10EA88C}"/>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West</c:v>
                </c:pt>
                <c:pt idx="1">
                  <c:v>South</c:v>
                </c:pt>
                <c:pt idx="2">
                  <c:v>Midwest</c:v>
                </c:pt>
                <c:pt idx="3">
                  <c:v>Northeast</c:v>
                </c:pt>
              </c:strCache>
            </c:strRef>
          </c:cat>
          <c:val>
            <c:numRef>
              <c:f>Sheet1!$B$2:$B$5</c:f>
              <c:numCache>
                <c:formatCode>General</c:formatCode>
                <c:ptCount val="4"/>
                <c:pt idx="0">
                  <c:v>372.1</c:v>
                </c:pt>
                <c:pt idx="1">
                  <c:v>335.1</c:v>
                </c:pt>
                <c:pt idx="2">
                  <c:v>320.3</c:v>
                </c:pt>
                <c:pt idx="3">
                  <c:v>208.4</c:v>
                </c:pt>
              </c:numCache>
            </c:numRef>
          </c:val>
          <c:extLst>
            <c:ext xmlns:c16="http://schemas.microsoft.com/office/drawing/2014/chart" uri="{C3380CC4-5D6E-409C-BE32-E72D297353CC}">
              <c16:uniqueId val="{00000008-89AD-4518-9169-3D00E10EA88C}"/>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200">
              <a:solidFill>
                <a:srgbClr val="4A5B7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0B2A5B"/>
                </a:solidFill>
                <a:latin typeface="+mn-lt"/>
              </a:defRPr>
            </a:pPr>
            <a:r>
              <a:rPr lang="en-IN" sz="1500" b="0" i="0" u="none" strike="noStrike">
                <a:solidFill>
                  <a:srgbClr val="0B2A5B"/>
                </a:solidFill>
                <a:latin typeface="+mn-lt"/>
              </a:rPr>
              <a:t>Profit margin by region</a:t>
            </a:r>
          </a:p>
        </c:rich>
      </c:tx>
      <c:overlay val="0"/>
    </c:title>
    <c:autoTitleDeleted val="0"/>
    <c:plotArea>
      <c:layout/>
      <c:doughnutChart>
        <c:varyColors val="1"/>
        <c:ser>
          <c:idx val="0"/>
          <c:order val="0"/>
          <c:tx>
            <c:strRef>
              <c:f>Sheet1!$B$1</c:f>
              <c:strCache>
                <c:ptCount val="1"/>
                <c:pt idx="0">
                  <c:v>Profit margin by region</c:v>
                </c:pt>
              </c:strCache>
            </c:strRef>
          </c:tx>
          <c:spPr>
            <a:solidFill>
              <a:schemeClr val="accent1"/>
            </a:solidFill>
            <a:ln w="9525" cap="flat">
              <a:solidFill>
                <a:srgbClr val="F9F9F9"/>
              </a:solidFill>
              <a:prstDash val="solid"/>
              <a:round/>
            </a:ln>
            <a:effectLst/>
          </c:spPr>
          <c:dPt>
            <c:idx val="0"/>
            <c:bubble3D val="0"/>
            <c:spPr>
              <a:solidFill>
                <a:srgbClr val="0B2A5B"/>
              </a:solidFill>
              <a:effectLst/>
            </c:spPr>
            <c:extLst>
              <c:ext xmlns:c16="http://schemas.microsoft.com/office/drawing/2014/chart" uri="{C3380CC4-5D6E-409C-BE32-E72D297353CC}">
                <c16:uniqueId val="{00000001-270E-4604-A001-7C40A5DC9CAD}"/>
              </c:ext>
            </c:extLst>
          </c:dPt>
          <c:dPt>
            <c:idx val="1"/>
            <c:bubble3D val="0"/>
            <c:spPr>
              <a:solidFill>
                <a:srgbClr val="2F6FDB"/>
              </a:solidFill>
              <a:effectLst/>
            </c:spPr>
            <c:extLst>
              <c:ext xmlns:c16="http://schemas.microsoft.com/office/drawing/2014/chart" uri="{C3380CC4-5D6E-409C-BE32-E72D297353CC}">
                <c16:uniqueId val="{00000003-270E-4604-A001-7C40A5DC9CAD}"/>
              </c:ext>
            </c:extLst>
          </c:dPt>
          <c:dPt>
            <c:idx val="2"/>
            <c:bubble3D val="0"/>
            <c:spPr>
              <a:solidFill>
                <a:srgbClr val="7FB2F0"/>
              </a:solidFill>
              <a:effectLst/>
            </c:spPr>
            <c:extLst>
              <c:ext xmlns:c16="http://schemas.microsoft.com/office/drawing/2014/chart" uri="{C3380CC4-5D6E-409C-BE32-E72D297353CC}">
                <c16:uniqueId val="{00000005-270E-4604-A001-7C40A5DC9CAD}"/>
              </c:ext>
            </c:extLst>
          </c:dPt>
          <c:dPt>
            <c:idx val="3"/>
            <c:bubble3D val="0"/>
            <c:spPr>
              <a:solidFill>
                <a:srgbClr val="F5A623"/>
              </a:solidFill>
              <a:effectLst/>
            </c:spPr>
            <c:extLst>
              <c:ext xmlns:c16="http://schemas.microsoft.com/office/drawing/2014/chart" uri="{C3380CC4-5D6E-409C-BE32-E72D297353CC}">
                <c16:uniqueId val="{00000007-270E-4604-A001-7C40A5DC9CAD}"/>
              </c:ext>
            </c:extLst>
          </c:dPt>
          <c:dLbls>
            <c:dLbl>
              <c:idx val="0"/>
              <c:numFmt formatCode="0.0&quot;%&quot;" sourceLinked="0"/>
              <c:spPr/>
              <c:txPr>
                <a:bodyPr/>
                <a:lstStyle/>
                <a:p>
                  <a:pPr>
                    <a:defRPr sz="13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70E-4604-A001-7C40A5DC9CAD}"/>
                </c:ext>
              </c:extLst>
            </c:dLbl>
            <c:dLbl>
              <c:idx val="1"/>
              <c:numFmt formatCode="0.0&quot;%&quot;" sourceLinked="0"/>
              <c:spPr/>
              <c:txPr>
                <a:bodyPr/>
                <a:lstStyle/>
                <a:p>
                  <a:pPr>
                    <a:defRPr sz="13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70E-4604-A001-7C40A5DC9CAD}"/>
                </c:ext>
              </c:extLst>
            </c:dLbl>
            <c:dLbl>
              <c:idx val="2"/>
              <c:numFmt formatCode="0.0&quot;%&quot;" sourceLinked="0"/>
              <c:spPr/>
              <c:txPr>
                <a:bodyPr/>
                <a:lstStyle/>
                <a:p>
                  <a:pPr>
                    <a:defRPr sz="13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70E-4604-A001-7C40A5DC9CAD}"/>
                </c:ext>
              </c:extLst>
            </c:dLbl>
            <c:dLbl>
              <c:idx val="3"/>
              <c:numFmt formatCode="0.0&quot;%&quot;" sourceLinked="0"/>
              <c:spPr/>
              <c:txPr>
                <a:bodyPr/>
                <a:lstStyle/>
                <a:p>
                  <a:pPr>
                    <a:defRPr sz="13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70E-4604-A001-7C40A5DC9CAD}"/>
                </c:ext>
              </c:extLst>
            </c:dLbl>
            <c:numFmt formatCode="0.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West</c:v>
                </c:pt>
                <c:pt idx="1">
                  <c:v>South</c:v>
                </c:pt>
                <c:pt idx="2">
                  <c:v>Midwest</c:v>
                </c:pt>
                <c:pt idx="3">
                  <c:v>Northeast</c:v>
                </c:pt>
              </c:strCache>
            </c:strRef>
          </c:cat>
          <c:val>
            <c:numRef>
              <c:f>Sheet1!$B$2:$B$5</c:f>
              <c:numCache>
                <c:formatCode>General</c:formatCode>
                <c:ptCount val="4"/>
                <c:pt idx="0">
                  <c:v>37.42</c:v>
                </c:pt>
                <c:pt idx="1">
                  <c:v>37.35</c:v>
                </c:pt>
                <c:pt idx="2">
                  <c:v>37.49</c:v>
                </c:pt>
                <c:pt idx="3">
                  <c:v>37.07</c:v>
                </c:pt>
              </c:numCache>
            </c:numRef>
          </c:val>
          <c:extLst>
            <c:ext xmlns:c16="http://schemas.microsoft.com/office/drawing/2014/chart" uri="{C3380CC4-5D6E-409C-BE32-E72D297353CC}">
              <c16:uniqueId val="{00000008-270E-4604-A001-7C40A5DC9CAD}"/>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200">
              <a:solidFill>
                <a:srgbClr val="4A5B7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3596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BrightMart Power BI report page by page, using the same charts and the same data behind them, with a plain-English takeaway for each.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has three pages and five headline KPI cards. The first row of cards is exactly what sits at the top of the Executive Overview page.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is one year. They overlap closely, which tells us demand is stable year to year. The standout is February 2017, which fell to 21.2 million. 2018 only has January and February so far.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profit follows the same shape as revenue, because the margin is steady at about 37 percent. The weakest profit month is February 2017 and the strongest is August 2015.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price and profit margin are plotted for a sample of 500 order lines. The cloud has no slope, and the correlation is essentially zero.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30 products ranked by revenue. Product 26 and Product 25 are well ahead. After a tight middle group the tail is long, with eleven products under 20 million each.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30 products ranked by profit margin. The whole range is only about six points, 34 to 40 percent. The most efficient product, Product 9, is also one of the smallest sellers.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customer. Across is how many orders they placed and up is their average margin. Customers with more orders are not noticeably more profitable.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donuts, the same as the dashboard: revenue, profit and margin by channel. Wholesale carries over half of the revenue and profit. Export is the smallest channel but has the highest margin.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largest customers bring in 10 to 12.6 million each. The five smallest bring in 4 to 4.8 million. With 175 customers, no single account is a risk.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customer margins are above 42 percent and the lowest are about 32.5 percent. Both groups are small accounts, so this spread is about pricing and discounts, not size.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California brings in almost 229 million, more than twice Illinois. At the other end, the five smallest states each contribute under 2 million.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donuts, as on the dashboard: revenue by region and profit margin by region. The Northeast has the smallest slice of revenue, but margins are the same everywhere, so it is a reach issue.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actions, each tied to one of the report pages. A budget-versus-actual view is not in the report yet, so that is the logical next addition.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81B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6217920" cy="1280160"/>
          </a:xfrm>
          <a:prstGeom prst="rect">
            <a:avLst/>
          </a:prstGeom>
          <a:noFill/>
          <a:ln/>
        </p:spPr>
        <p:txBody>
          <a:bodyPr wrap="square" rtlCol="0"/>
          <a:lstStyle>
            <a:lvl1pPr marL="0" indent="0" algn="l">
              <a:buNone/>
              <a:defRPr lang="en-US" sz="5400" b="1" dirty="0">
                <a:solidFill>
                  <a:srgbClr val="FFFFFF"/>
                </a:solidFill>
              </a:defRPr>
            </a:lvl1pPr>
          </a:lstStyle>
          <a:p>
            <a:pPr marL="0" indent="0" algn="l">
              <a:buNone/>
            </a:pPr>
            <a:endParaRPr lang="en-US" sz="5400" dirty="0"/>
          </a:p>
        </p:txBody>
      </p:sp>
      <p:sp>
        <p:nvSpPr>
          <p:cNvPr id="3" name="Text 0"/>
          <p:cNvSpPr>
            <a:spLocks noGrp="1"/>
          </p:cNvSpPr>
          <p:nvPr>
            <p:ph type="body" idx="101" hasCustomPrompt="1"/>
          </p:nvPr>
        </p:nvSpPr>
        <p:spPr>
          <a:xfrm>
            <a:off x="731520" y="3474720"/>
            <a:ext cx="6217920" cy="1188720"/>
          </a:xfrm>
          <a:prstGeom prst="rect">
            <a:avLst/>
          </a:prstGeom>
          <a:noFill/>
          <a:ln/>
        </p:spPr>
        <p:txBody>
          <a:bodyPr wrap="square" rtlCol="0"/>
          <a:lstStyle>
            <a:lvl1pPr marL="0" indent="0" algn="l">
              <a:buNone/>
              <a:defRPr lang="en-US" sz="2400" dirty="0">
                <a:solidFill>
                  <a:srgbClr val="C9DDF7"/>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rtlCol="0"/>
          <a:lstStyle>
            <a:lvl1pPr marL="0" indent="0" algn="l">
              <a:buNone/>
              <a:defRPr lang="en-US" sz="3000" b="1" dirty="0">
                <a:solidFill>
                  <a:srgbClr val="0B2A5B"/>
                </a:solidFill>
              </a:defRPr>
            </a:lvl1pPr>
          </a:lstStyle>
          <a:p>
            <a:pPr marL="0" indent="0" algn="l">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4A5B78"/>
                </a:solidFill>
              </a:rPr>
              <a:t>BrightMart Inc.  ·  Sales dashboard review</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081B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rtlCol="0"/>
          <a:lstStyle>
            <a:lvl1pPr marL="0" indent="0" algn="l">
              <a:buNone/>
              <a:defRPr lang="en-US" sz="3000" b="1" dirty="0">
                <a:solidFill>
                  <a:srgbClr val="FFFFFF"/>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C9DDF7"/>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chart" Target="../charts/chart4.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chart" Target="../charts/chart8.xml"/></Relationships>
</file>

<file path=ppt/slides/_rels/slide12.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hart" Target="../charts/chart10.xml"/></Relationships>
</file>

<file path=ppt/slides/_rels/slide1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chart" Target="../charts/char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5943600" cy="365760"/>
          </a:xfrm>
          <a:prstGeom prst="rect">
            <a:avLst/>
          </a:prstGeom>
          <a:noFill/>
          <a:ln/>
        </p:spPr>
        <p:txBody>
          <a:bodyPr wrap="square" lIns="0" tIns="0" rIns="0" bIns="0" rtlCol="0" anchor="ctr"/>
          <a:lstStyle/>
          <a:p>
            <a:pPr marL="0" indent="0">
              <a:buNone/>
            </a:pPr>
            <a:r>
              <a:rPr lang="en-US" sz="1400" b="1" kern="0" spc="400" dirty="0">
                <a:solidFill>
                  <a:srgbClr val="7FB2F0"/>
                </a:solidFill>
              </a:rPr>
              <a:t>POWER BI REPORT REVIEW</a:t>
            </a:r>
            <a:endParaRPr lang="en-US" sz="1400" dirty="0"/>
          </a:p>
        </p:txBody>
      </p:sp>
      <p:sp>
        <p:nvSpPr>
          <p:cNvPr id="3" name="Text 0"/>
          <p:cNvSpPr>
            <a:spLocks noGrp="1"/>
          </p:cNvSpPr>
          <p:nvPr>
            <p:ph type="title" idx="100" hasCustomPrompt="1"/>
          </p:nvPr>
        </p:nvSpPr>
        <p:spPr>
          <a:xfrm>
            <a:off x="731520" y="2103120"/>
            <a:ext cx="6217920" cy="1280160"/>
          </a:xfrm>
          <a:prstGeom prst="rect">
            <a:avLst/>
          </a:prstGeom>
          <a:noFill/>
          <a:ln/>
        </p:spPr>
        <p:txBody>
          <a:bodyPr wrap="square" lIns="0" tIns="0" rIns="0" bIns="0" rtlCol="0" anchor="t"/>
          <a:lstStyle/>
          <a:p>
            <a:pPr marL="0" indent="0" algn="l">
              <a:buNone/>
            </a:pPr>
            <a:r>
              <a:rPr lang="en-US" dirty="0"/>
              <a:t>SALES REPORT</a:t>
            </a:r>
            <a:endParaRPr lang="en-US" sz="5400" dirty="0"/>
          </a:p>
        </p:txBody>
      </p:sp>
      <p:sp>
        <p:nvSpPr>
          <p:cNvPr id="4" name="Text 0"/>
          <p:cNvSpPr>
            <a:spLocks noGrp="1"/>
          </p:cNvSpPr>
          <p:nvPr>
            <p:ph type="body" idx="101" hasCustomPrompt="1"/>
          </p:nvPr>
        </p:nvSpPr>
        <p:spPr>
          <a:xfrm>
            <a:off x="731520" y="3474720"/>
            <a:ext cx="6217920" cy="1188720"/>
          </a:xfrm>
          <a:prstGeom prst="rect">
            <a:avLst/>
          </a:prstGeom>
          <a:noFill/>
          <a:ln/>
        </p:spPr>
        <p:txBody>
          <a:bodyPr wrap="square" lIns="0" tIns="0" rIns="0" bIns="0" rtlCol="0" anchor="t"/>
          <a:lstStyle/>
          <a:p>
            <a:pPr marL="0" indent="0" algn="l">
              <a:buNone/>
            </a:pPr>
            <a:r>
              <a:rPr lang="en-US" sz="2400" dirty="0">
                <a:solidFill>
                  <a:srgbClr val="C9DDF7"/>
                </a:solidFill>
              </a:rPr>
              <a:t>What the sales dashboard is telling us</a:t>
            </a:r>
            <a:endParaRPr lang="en-US" sz="2400" dirty="0"/>
          </a:p>
          <a:p>
            <a:pPr marL="0" indent="0" algn="l">
              <a:buNone/>
            </a:pPr>
            <a:r>
              <a:rPr lang="en-US" sz="2400" dirty="0">
                <a:solidFill>
                  <a:srgbClr val="C9DDF7"/>
                </a:solidFill>
              </a:rPr>
              <a:t>January 2014 – February 2018</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0B2A5B"/>
                </a:solidFill>
              </a:rPr>
              <a:t>The report at a glance</a:t>
            </a:r>
            <a:endParaRPr lang="en-US" sz="3000" dirty="0"/>
          </a:p>
        </p:txBody>
      </p:sp>
      <p:sp>
        <p:nvSpPr>
          <p:cNvPr id="4" name="KPI card 1"/>
          <p:cNvSpPr/>
          <p:nvPr/>
        </p:nvSpPr>
        <p:spPr>
          <a:xfrm>
            <a:off x="548640" y="1554480"/>
            <a:ext cx="2103120" cy="1554480"/>
          </a:xfrm>
          <a:prstGeom prst="roundRect">
            <a:avLst>
              <a:gd name="adj" fmla="val 8824"/>
            </a:avLst>
          </a:prstGeom>
          <a:solidFill>
            <a:srgbClr val="0B2A5B"/>
          </a:solidFill>
          <a:ln w="12700">
            <a:solidFill>
              <a:srgbClr val="0B2A5B"/>
            </a:solidFill>
            <a:prstDash val="solid"/>
          </a:ln>
        </p:spPr>
      </p:sp>
      <p:sp>
        <p:nvSpPr>
          <p:cNvPr id="5" name="Text 2"/>
          <p:cNvSpPr txBox="1"/>
          <p:nvPr/>
        </p:nvSpPr>
        <p:spPr>
          <a:xfrm>
            <a:off x="685800" y="1645920"/>
            <a:ext cx="1828800" cy="777240"/>
          </a:xfrm>
          <a:prstGeom prst="rect">
            <a:avLst/>
          </a:prstGeom>
          <a:noFill/>
          <a:ln/>
        </p:spPr>
        <p:txBody>
          <a:bodyPr wrap="square" lIns="0" tIns="0" rIns="0" bIns="0" rtlCol="0" anchor="ctr"/>
          <a:lstStyle/>
          <a:p>
            <a:pPr marL="0" indent="0">
              <a:buNone/>
            </a:pPr>
            <a:r>
              <a:rPr lang="en-US" sz="3000" b="1" dirty="0">
                <a:solidFill>
                  <a:srgbClr val="FFFFFF"/>
                </a:solidFill>
                <a:latin typeface="+mj-lt" pitchFamily="34" charset="0"/>
                <a:ea typeface="+mj-lt" pitchFamily="34" charset="-122"/>
                <a:cs typeface="+mj-lt" pitchFamily="34" charset="-120"/>
              </a:rPr>
              <a:t>$1.24B</a:t>
            </a:r>
            <a:endParaRPr lang="en-US" sz="3000" dirty="0"/>
          </a:p>
        </p:txBody>
      </p:sp>
      <p:sp>
        <p:nvSpPr>
          <p:cNvPr id="6" name="Text 3"/>
          <p:cNvSpPr txBox="1"/>
          <p:nvPr/>
        </p:nvSpPr>
        <p:spPr>
          <a:xfrm>
            <a:off x="685800" y="2423160"/>
            <a:ext cx="1828800" cy="502920"/>
          </a:xfrm>
          <a:prstGeom prst="rect">
            <a:avLst/>
          </a:prstGeom>
          <a:noFill/>
          <a:ln/>
        </p:spPr>
        <p:txBody>
          <a:bodyPr wrap="square" lIns="0" tIns="0" rIns="0" bIns="0" rtlCol="0" anchor="ctr"/>
          <a:lstStyle/>
          <a:p>
            <a:pPr marL="0" indent="0">
              <a:buNone/>
            </a:pPr>
            <a:r>
              <a:rPr lang="en-US" sz="1400" dirty="0">
                <a:solidFill>
                  <a:srgbClr val="C9DDF7"/>
                </a:solidFill>
              </a:rPr>
              <a:t>Total Revenue</a:t>
            </a:r>
            <a:endParaRPr lang="en-US" sz="1400" dirty="0"/>
          </a:p>
        </p:txBody>
      </p:sp>
      <p:sp>
        <p:nvSpPr>
          <p:cNvPr id="7" name="KPI card 2"/>
          <p:cNvSpPr/>
          <p:nvPr/>
        </p:nvSpPr>
        <p:spPr>
          <a:xfrm>
            <a:off x="2788920" y="1554480"/>
            <a:ext cx="2103120" cy="1554480"/>
          </a:xfrm>
          <a:prstGeom prst="roundRect">
            <a:avLst>
              <a:gd name="adj" fmla="val 8824"/>
            </a:avLst>
          </a:prstGeom>
          <a:solidFill>
            <a:srgbClr val="0B2A5B"/>
          </a:solidFill>
          <a:ln w="12700">
            <a:solidFill>
              <a:srgbClr val="0B2A5B"/>
            </a:solidFill>
            <a:prstDash val="solid"/>
          </a:ln>
        </p:spPr>
      </p:sp>
      <p:sp>
        <p:nvSpPr>
          <p:cNvPr id="8" name="Text 5"/>
          <p:cNvSpPr txBox="1"/>
          <p:nvPr/>
        </p:nvSpPr>
        <p:spPr>
          <a:xfrm>
            <a:off x="2926080" y="1645920"/>
            <a:ext cx="1828800" cy="777240"/>
          </a:xfrm>
          <a:prstGeom prst="rect">
            <a:avLst/>
          </a:prstGeom>
          <a:noFill/>
          <a:ln/>
        </p:spPr>
        <p:txBody>
          <a:bodyPr wrap="square" lIns="0" tIns="0" rIns="0" bIns="0" rtlCol="0" anchor="ctr"/>
          <a:lstStyle/>
          <a:p>
            <a:pPr marL="0" indent="0">
              <a:buNone/>
            </a:pPr>
            <a:r>
              <a:rPr lang="en-US" sz="3000" b="1" dirty="0">
                <a:solidFill>
                  <a:srgbClr val="FFFFFF"/>
                </a:solidFill>
                <a:latin typeface="+mj-lt" pitchFamily="34" charset="0"/>
                <a:ea typeface="+mj-lt" pitchFamily="34" charset="-122"/>
                <a:cs typeface="+mj-lt" pitchFamily="34" charset="-120"/>
              </a:rPr>
              <a:t>$462M</a:t>
            </a:r>
            <a:endParaRPr lang="en-US" sz="3000" dirty="0"/>
          </a:p>
        </p:txBody>
      </p:sp>
      <p:sp>
        <p:nvSpPr>
          <p:cNvPr id="9" name="Text 6"/>
          <p:cNvSpPr txBox="1"/>
          <p:nvPr/>
        </p:nvSpPr>
        <p:spPr>
          <a:xfrm>
            <a:off x="2926080" y="2423160"/>
            <a:ext cx="1828800" cy="502920"/>
          </a:xfrm>
          <a:prstGeom prst="rect">
            <a:avLst/>
          </a:prstGeom>
          <a:noFill/>
          <a:ln/>
        </p:spPr>
        <p:txBody>
          <a:bodyPr wrap="square" lIns="0" tIns="0" rIns="0" bIns="0" rtlCol="0" anchor="ctr"/>
          <a:lstStyle/>
          <a:p>
            <a:pPr marL="0" indent="0">
              <a:buNone/>
            </a:pPr>
            <a:r>
              <a:rPr lang="en-US" sz="1400" dirty="0">
                <a:solidFill>
                  <a:srgbClr val="C9DDF7"/>
                </a:solidFill>
              </a:rPr>
              <a:t>Total Profit</a:t>
            </a:r>
            <a:endParaRPr lang="en-US" sz="1400" dirty="0"/>
          </a:p>
        </p:txBody>
      </p:sp>
      <p:sp>
        <p:nvSpPr>
          <p:cNvPr id="10" name="KPI card 3"/>
          <p:cNvSpPr/>
          <p:nvPr/>
        </p:nvSpPr>
        <p:spPr>
          <a:xfrm>
            <a:off x="5029200" y="1554480"/>
            <a:ext cx="2103120" cy="1554480"/>
          </a:xfrm>
          <a:prstGeom prst="roundRect">
            <a:avLst>
              <a:gd name="adj" fmla="val 8824"/>
            </a:avLst>
          </a:prstGeom>
          <a:solidFill>
            <a:srgbClr val="0B2A5B"/>
          </a:solidFill>
          <a:ln w="12700">
            <a:solidFill>
              <a:srgbClr val="0B2A5B"/>
            </a:solidFill>
            <a:prstDash val="solid"/>
          </a:ln>
        </p:spPr>
      </p:sp>
      <p:sp>
        <p:nvSpPr>
          <p:cNvPr id="11" name="Text 8"/>
          <p:cNvSpPr txBox="1"/>
          <p:nvPr/>
        </p:nvSpPr>
        <p:spPr>
          <a:xfrm>
            <a:off x="5166360" y="1645920"/>
            <a:ext cx="1828800" cy="777240"/>
          </a:xfrm>
          <a:prstGeom prst="rect">
            <a:avLst/>
          </a:prstGeom>
          <a:noFill/>
          <a:ln/>
        </p:spPr>
        <p:txBody>
          <a:bodyPr wrap="square" lIns="0" tIns="0" rIns="0" bIns="0" rtlCol="0" anchor="ctr"/>
          <a:lstStyle/>
          <a:p>
            <a:pPr marL="0" indent="0">
              <a:buNone/>
            </a:pPr>
            <a:r>
              <a:rPr lang="en-US" sz="3000" b="1" dirty="0">
                <a:solidFill>
                  <a:srgbClr val="FFFFFF"/>
                </a:solidFill>
                <a:latin typeface="+mj-lt" pitchFamily="34" charset="0"/>
                <a:ea typeface="+mj-lt" pitchFamily="34" charset="-122"/>
                <a:cs typeface="+mj-lt" pitchFamily="34" charset="-120"/>
              </a:rPr>
              <a:t>37.4%</a:t>
            </a:r>
            <a:endParaRPr lang="en-US" sz="3000" dirty="0"/>
          </a:p>
        </p:txBody>
      </p:sp>
      <p:sp>
        <p:nvSpPr>
          <p:cNvPr id="12" name="Text 9"/>
          <p:cNvSpPr txBox="1"/>
          <p:nvPr/>
        </p:nvSpPr>
        <p:spPr>
          <a:xfrm>
            <a:off x="5166360" y="2423160"/>
            <a:ext cx="1828800" cy="502920"/>
          </a:xfrm>
          <a:prstGeom prst="rect">
            <a:avLst/>
          </a:prstGeom>
          <a:noFill/>
          <a:ln/>
        </p:spPr>
        <p:txBody>
          <a:bodyPr wrap="square" lIns="0" tIns="0" rIns="0" bIns="0" rtlCol="0" anchor="ctr"/>
          <a:lstStyle/>
          <a:p>
            <a:pPr marL="0" indent="0">
              <a:buNone/>
            </a:pPr>
            <a:r>
              <a:rPr lang="en-US" sz="1400" dirty="0">
                <a:solidFill>
                  <a:srgbClr val="C9DDF7"/>
                </a:solidFill>
              </a:rPr>
              <a:t>Profit Margin %</a:t>
            </a:r>
            <a:endParaRPr lang="en-US" sz="1400" dirty="0"/>
          </a:p>
        </p:txBody>
      </p:sp>
      <p:sp>
        <p:nvSpPr>
          <p:cNvPr id="13" name="KPI card 4"/>
          <p:cNvSpPr/>
          <p:nvPr/>
        </p:nvSpPr>
        <p:spPr>
          <a:xfrm>
            <a:off x="7269480" y="1554480"/>
            <a:ext cx="2103120" cy="1554480"/>
          </a:xfrm>
          <a:prstGeom prst="roundRect">
            <a:avLst>
              <a:gd name="adj" fmla="val 8824"/>
            </a:avLst>
          </a:prstGeom>
          <a:solidFill>
            <a:srgbClr val="0B2A5B"/>
          </a:solidFill>
          <a:ln w="12700">
            <a:solidFill>
              <a:srgbClr val="0B2A5B"/>
            </a:solidFill>
            <a:prstDash val="solid"/>
          </a:ln>
        </p:spPr>
      </p:sp>
      <p:sp>
        <p:nvSpPr>
          <p:cNvPr id="14" name="Text 11"/>
          <p:cNvSpPr txBox="1"/>
          <p:nvPr/>
        </p:nvSpPr>
        <p:spPr>
          <a:xfrm>
            <a:off x="7406640" y="1645920"/>
            <a:ext cx="1828800" cy="777240"/>
          </a:xfrm>
          <a:prstGeom prst="rect">
            <a:avLst/>
          </a:prstGeom>
          <a:noFill/>
          <a:ln/>
        </p:spPr>
        <p:txBody>
          <a:bodyPr wrap="square" lIns="0" tIns="0" rIns="0" bIns="0" rtlCol="0" anchor="ctr"/>
          <a:lstStyle/>
          <a:p>
            <a:pPr marL="0" indent="0">
              <a:buNone/>
            </a:pPr>
            <a:r>
              <a:rPr lang="en-US" sz="3000" b="1" dirty="0">
                <a:solidFill>
                  <a:srgbClr val="FFFFFF"/>
                </a:solidFill>
                <a:latin typeface="+mj-lt" pitchFamily="34" charset="0"/>
                <a:ea typeface="+mj-lt" pitchFamily="34" charset="-122"/>
                <a:cs typeface="+mj-lt" pitchFamily="34" charset="-120"/>
              </a:rPr>
              <a:t>10,684</a:t>
            </a:r>
            <a:endParaRPr lang="en-US" sz="3000" dirty="0"/>
          </a:p>
        </p:txBody>
      </p:sp>
      <p:sp>
        <p:nvSpPr>
          <p:cNvPr id="15" name="Text 12"/>
          <p:cNvSpPr txBox="1"/>
          <p:nvPr/>
        </p:nvSpPr>
        <p:spPr>
          <a:xfrm>
            <a:off x="7406640" y="2423160"/>
            <a:ext cx="1828800" cy="502920"/>
          </a:xfrm>
          <a:prstGeom prst="rect">
            <a:avLst/>
          </a:prstGeom>
          <a:noFill/>
          <a:ln/>
        </p:spPr>
        <p:txBody>
          <a:bodyPr wrap="square" lIns="0" tIns="0" rIns="0" bIns="0" rtlCol="0" anchor="ctr"/>
          <a:lstStyle/>
          <a:p>
            <a:pPr marL="0" indent="0">
              <a:buNone/>
            </a:pPr>
            <a:r>
              <a:rPr lang="en-US" sz="1400" dirty="0">
                <a:solidFill>
                  <a:srgbClr val="C9DDF7"/>
                </a:solidFill>
              </a:rPr>
              <a:t>Total Orders</a:t>
            </a:r>
            <a:endParaRPr lang="en-US" sz="1400" dirty="0"/>
          </a:p>
        </p:txBody>
      </p:sp>
      <p:sp>
        <p:nvSpPr>
          <p:cNvPr id="16" name="KPI card 5"/>
          <p:cNvSpPr/>
          <p:nvPr/>
        </p:nvSpPr>
        <p:spPr>
          <a:xfrm>
            <a:off x="9509760" y="1554480"/>
            <a:ext cx="2103120" cy="1554480"/>
          </a:xfrm>
          <a:prstGeom prst="roundRect">
            <a:avLst>
              <a:gd name="adj" fmla="val 8824"/>
            </a:avLst>
          </a:prstGeom>
          <a:solidFill>
            <a:srgbClr val="0B2A5B"/>
          </a:solidFill>
          <a:ln w="12700">
            <a:solidFill>
              <a:srgbClr val="0B2A5B"/>
            </a:solidFill>
            <a:prstDash val="solid"/>
          </a:ln>
        </p:spPr>
      </p:sp>
      <p:sp>
        <p:nvSpPr>
          <p:cNvPr id="17" name="Text 14"/>
          <p:cNvSpPr txBox="1"/>
          <p:nvPr/>
        </p:nvSpPr>
        <p:spPr>
          <a:xfrm>
            <a:off x="9646920" y="1645920"/>
            <a:ext cx="1828800" cy="777240"/>
          </a:xfrm>
          <a:prstGeom prst="rect">
            <a:avLst/>
          </a:prstGeom>
          <a:noFill/>
          <a:ln/>
        </p:spPr>
        <p:txBody>
          <a:bodyPr wrap="square" lIns="0" tIns="0" rIns="0" bIns="0" rtlCol="0" anchor="ctr"/>
          <a:lstStyle/>
          <a:p>
            <a:pPr marL="0" indent="0">
              <a:buNone/>
            </a:pPr>
            <a:r>
              <a:rPr lang="en-US" sz="3000" b="1" dirty="0">
                <a:solidFill>
                  <a:srgbClr val="FFFFFF"/>
                </a:solidFill>
                <a:latin typeface="+mj-lt" pitchFamily="34" charset="0"/>
                <a:ea typeface="+mj-lt" pitchFamily="34" charset="-122"/>
                <a:cs typeface="+mj-lt" pitchFamily="34" charset="-120"/>
              </a:rPr>
              <a:t>$116K</a:t>
            </a:r>
            <a:endParaRPr lang="en-US" sz="3000" dirty="0"/>
          </a:p>
        </p:txBody>
      </p:sp>
      <p:sp>
        <p:nvSpPr>
          <p:cNvPr id="18" name="Text 15"/>
          <p:cNvSpPr txBox="1"/>
          <p:nvPr/>
        </p:nvSpPr>
        <p:spPr>
          <a:xfrm>
            <a:off x="9646920" y="2423160"/>
            <a:ext cx="1828800" cy="502920"/>
          </a:xfrm>
          <a:prstGeom prst="rect">
            <a:avLst/>
          </a:prstGeom>
          <a:noFill/>
          <a:ln/>
        </p:spPr>
        <p:txBody>
          <a:bodyPr wrap="square" lIns="0" tIns="0" rIns="0" bIns="0" rtlCol="0" anchor="ctr"/>
          <a:lstStyle/>
          <a:p>
            <a:pPr marL="0" indent="0">
              <a:buNone/>
            </a:pPr>
            <a:r>
              <a:rPr lang="en-US" sz="1400" dirty="0">
                <a:solidFill>
                  <a:srgbClr val="C9DDF7"/>
                </a:solidFill>
              </a:rPr>
              <a:t>Revenue per order</a:t>
            </a:r>
            <a:endParaRPr lang="en-US" sz="1400" dirty="0"/>
          </a:p>
        </p:txBody>
      </p:sp>
      <p:sp>
        <p:nvSpPr>
          <p:cNvPr id="19" name="Page card 1"/>
          <p:cNvSpPr/>
          <p:nvPr/>
        </p:nvSpPr>
        <p:spPr>
          <a:xfrm>
            <a:off x="548640" y="3474720"/>
            <a:ext cx="3611880" cy="2560320"/>
          </a:xfrm>
          <a:prstGeom prst="roundRect">
            <a:avLst>
              <a:gd name="adj" fmla="val 5357"/>
            </a:avLst>
          </a:prstGeom>
          <a:solidFill>
            <a:srgbClr val="EEF3FA"/>
          </a:solidFill>
          <a:ln w="12700">
            <a:solidFill>
              <a:srgbClr val="EEF3FA"/>
            </a:solidFill>
            <a:prstDash val="solid"/>
          </a:ln>
        </p:spPr>
      </p:sp>
      <p:sp>
        <p:nvSpPr>
          <p:cNvPr id="20" name="Page number 1"/>
          <p:cNvSpPr/>
          <p:nvPr/>
        </p:nvSpPr>
        <p:spPr>
          <a:xfrm>
            <a:off x="822960" y="3703320"/>
            <a:ext cx="594360" cy="594360"/>
          </a:xfrm>
          <a:prstGeom prst="ellipse">
            <a:avLst/>
          </a:prstGeom>
          <a:solidFill>
            <a:srgbClr val="2F6FDB"/>
          </a:solidFill>
          <a:ln w="12700">
            <a:solidFill>
              <a:srgbClr val="2F6FDB"/>
            </a:solidFill>
            <a:prstDash val="solid"/>
          </a:ln>
        </p:spPr>
      </p:sp>
      <p:sp>
        <p:nvSpPr>
          <p:cNvPr id="21" name="Text 18"/>
          <p:cNvSpPr txBox="1"/>
          <p:nvPr/>
        </p:nvSpPr>
        <p:spPr>
          <a:xfrm>
            <a:off x="822960" y="37033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22" name="Text 19"/>
          <p:cNvSpPr txBox="1"/>
          <p:nvPr/>
        </p:nvSpPr>
        <p:spPr>
          <a:xfrm>
            <a:off x="822960" y="4434840"/>
            <a:ext cx="3063240" cy="640080"/>
          </a:xfrm>
          <a:prstGeom prst="rect">
            <a:avLst/>
          </a:prstGeom>
          <a:noFill/>
          <a:ln/>
        </p:spPr>
        <p:txBody>
          <a:bodyPr wrap="square" lIns="0" tIns="0" rIns="0" bIns="0" rtlCol="0" anchor="t"/>
          <a:lstStyle/>
          <a:p>
            <a:pPr marL="0" indent="0">
              <a:buNone/>
            </a:pPr>
            <a:r>
              <a:rPr lang="en-US" sz="1800" b="1" dirty="0">
                <a:solidFill>
                  <a:srgbClr val="0B2A5B"/>
                </a:solidFill>
              </a:rPr>
              <a:t>Executive Overview &amp; Trends</a:t>
            </a:r>
            <a:endParaRPr lang="en-US" sz="1800" dirty="0"/>
          </a:p>
        </p:txBody>
      </p:sp>
      <p:sp>
        <p:nvSpPr>
          <p:cNvPr id="23" name="Text 20"/>
          <p:cNvSpPr txBox="1"/>
          <p:nvPr/>
        </p:nvSpPr>
        <p:spPr>
          <a:xfrm>
            <a:off x="822960" y="5074920"/>
            <a:ext cx="3063240" cy="868680"/>
          </a:xfrm>
          <a:prstGeom prst="rect">
            <a:avLst/>
          </a:prstGeom>
          <a:noFill/>
          <a:ln/>
        </p:spPr>
        <p:txBody>
          <a:bodyPr wrap="square" lIns="0" tIns="0" rIns="0" bIns="0" rtlCol="0" anchor="t"/>
          <a:lstStyle/>
          <a:p>
            <a:pPr marL="0" indent="0">
              <a:buNone/>
            </a:pPr>
            <a:r>
              <a:rPr lang="en-US" sz="1400" dirty="0">
                <a:solidFill>
                  <a:srgbClr val="0B1F3A"/>
                </a:solidFill>
              </a:rPr>
              <a:t>Monthly revenue and profit by year, price versus margin, and how big our orders are.</a:t>
            </a:r>
            <a:endParaRPr lang="en-US" sz="1400" dirty="0"/>
          </a:p>
        </p:txBody>
      </p:sp>
      <p:sp>
        <p:nvSpPr>
          <p:cNvPr id="24" name="Page card 2"/>
          <p:cNvSpPr/>
          <p:nvPr/>
        </p:nvSpPr>
        <p:spPr>
          <a:xfrm>
            <a:off x="4297680" y="3474720"/>
            <a:ext cx="3611880" cy="2560320"/>
          </a:xfrm>
          <a:prstGeom prst="roundRect">
            <a:avLst>
              <a:gd name="adj" fmla="val 5357"/>
            </a:avLst>
          </a:prstGeom>
          <a:solidFill>
            <a:srgbClr val="EEF3FA"/>
          </a:solidFill>
          <a:ln w="12700">
            <a:solidFill>
              <a:srgbClr val="EEF3FA"/>
            </a:solidFill>
            <a:prstDash val="solid"/>
          </a:ln>
        </p:spPr>
      </p:sp>
      <p:sp>
        <p:nvSpPr>
          <p:cNvPr id="25" name="Page number 2"/>
          <p:cNvSpPr/>
          <p:nvPr/>
        </p:nvSpPr>
        <p:spPr>
          <a:xfrm>
            <a:off x="4572000" y="3703320"/>
            <a:ext cx="594360" cy="594360"/>
          </a:xfrm>
          <a:prstGeom prst="ellipse">
            <a:avLst/>
          </a:prstGeom>
          <a:solidFill>
            <a:srgbClr val="2F6FDB"/>
          </a:solidFill>
          <a:ln w="12700">
            <a:solidFill>
              <a:srgbClr val="2F6FDB"/>
            </a:solidFill>
            <a:prstDash val="solid"/>
          </a:ln>
        </p:spPr>
      </p:sp>
      <p:sp>
        <p:nvSpPr>
          <p:cNvPr id="26" name="Text 23"/>
          <p:cNvSpPr txBox="1"/>
          <p:nvPr/>
        </p:nvSpPr>
        <p:spPr>
          <a:xfrm>
            <a:off x="4572000" y="37033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27" name="Text 24"/>
          <p:cNvSpPr txBox="1"/>
          <p:nvPr/>
        </p:nvSpPr>
        <p:spPr>
          <a:xfrm>
            <a:off x="4572000" y="4434840"/>
            <a:ext cx="3063240" cy="640080"/>
          </a:xfrm>
          <a:prstGeom prst="rect">
            <a:avLst/>
          </a:prstGeom>
          <a:noFill/>
          <a:ln/>
        </p:spPr>
        <p:txBody>
          <a:bodyPr wrap="square" lIns="0" tIns="0" rIns="0" bIns="0" rtlCol="0" anchor="t"/>
          <a:lstStyle/>
          <a:p>
            <a:pPr marL="0" indent="0">
              <a:buNone/>
            </a:pPr>
            <a:r>
              <a:rPr lang="en-US" sz="1800" b="1" dirty="0">
                <a:solidFill>
                  <a:srgbClr val="0B2A5B"/>
                </a:solidFill>
              </a:rPr>
              <a:t>Product &amp; Channel Performance</a:t>
            </a:r>
            <a:endParaRPr lang="en-US" sz="1800" dirty="0"/>
          </a:p>
        </p:txBody>
      </p:sp>
      <p:sp>
        <p:nvSpPr>
          <p:cNvPr id="28" name="Text 25"/>
          <p:cNvSpPr txBox="1"/>
          <p:nvPr/>
        </p:nvSpPr>
        <p:spPr>
          <a:xfrm>
            <a:off x="4572000" y="5074920"/>
            <a:ext cx="3063240" cy="868680"/>
          </a:xfrm>
          <a:prstGeom prst="rect">
            <a:avLst/>
          </a:prstGeom>
          <a:noFill/>
          <a:ln/>
        </p:spPr>
        <p:txBody>
          <a:bodyPr wrap="square" lIns="0" tIns="0" rIns="0" bIns="0" rtlCol="0" anchor="t"/>
          <a:lstStyle/>
          <a:p>
            <a:pPr marL="0" indent="0">
              <a:buNone/>
            </a:pPr>
            <a:r>
              <a:rPr lang="en-US" sz="1400" dirty="0">
                <a:solidFill>
                  <a:srgbClr val="0B1F3A"/>
                </a:solidFill>
              </a:rPr>
              <a:t>Which products sell most and earn most, customer profitability, and the three sales channels.</a:t>
            </a:r>
            <a:endParaRPr lang="en-US" sz="1400" dirty="0"/>
          </a:p>
        </p:txBody>
      </p:sp>
      <p:sp>
        <p:nvSpPr>
          <p:cNvPr id="29" name="Page card 3"/>
          <p:cNvSpPr/>
          <p:nvPr/>
        </p:nvSpPr>
        <p:spPr>
          <a:xfrm>
            <a:off x="8046720" y="3474720"/>
            <a:ext cx="3611880" cy="2560320"/>
          </a:xfrm>
          <a:prstGeom prst="roundRect">
            <a:avLst>
              <a:gd name="adj" fmla="val 5357"/>
            </a:avLst>
          </a:prstGeom>
          <a:solidFill>
            <a:srgbClr val="EEF3FA"/>
          </a:solidFill>
          <a:ln w="12700">
            <a:solidFill>
              <a:srgbClr val="EEF3FA"/>
            </a:solidFill>
            <a:prstDash val="solid"/>
          </a:ln>
        </p:spPr>
      </p:sp>
      <p:sp>
        <p:nvSpPr>
          <p:cNvPr id="30" name="Page number 3"/>
          <p:cNvSpPr/>
          <p:nvPr/>
        </p:nvSpPr>
        <p:spPr>
          <a:xfrm>
            <a:off x="8321040" y="3703320"/>
            <a:ext cx="594360" cy="594360"/>
          </a:xfrm>
          <a:prstGeom prst="ellipse">
            <a:avLst/>
          </a:prstGeom>
          <a:solidFill>
            <a:srgbClr val="2F6FDB"/>
          </a:solidFill>
          <a:ln w="12700">
            <a:solidFill>
              <a:srgbClr val="2F6FDB"/>
            </a:solidFill>
            <a:prstDash val="solid"/>
          </a:ln>
        </p:spPr>
      </p:sp>
      <p:sp>
        <p:nvSpPr>
          <p:cNvPr id="31" name="Text 28"/>
          <p:cNvSpPr txBox="1"/>
          <p:nvPr/>
        </p:nvSpPr>
        <p:spPr>
          <a:xfrm>
            <a:off x="8321040" y="37033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32" name="Text 29"/>
          <p:cNvSpPr txBox="1"/>
          <p:nvPr/>
        </p:nvSpPr>
        <p:spPr>
          <a:xfrm>
            <a:off x="8321040" y="4434840"/>
            <a:ext cx="3063240" cy="640080"/>
          </a:xfrm>
          <a:prstGeom prst="rect">
            <a:avLst/>
          </a:prstGeom>
          <a:noFill/>
          <a:ln/>
        </p:spPr>
        <p:txBody>
          <a:bodyPr wrap="square" lIns="0" tIns="0" rIns="0" bIns="0" rtlCol="0" anchor="t"/>
          <a:lstStyle/>
          <a:p>
            <a:pPr marL="0" indent="0">
              <a:buNone/>
            </a:pPr>
            <a:r>
              <a:rPr lang="en-US" sz="1800" b="1" dirty="0">
                <a:solidFill>
                  <a:srgbClr val="0B2A5B"/>
                </a:solidFill>
              </a:rPr>
              <a:t>Geographic &amp; Customer Insights</a:t>
            </a:r>
            <a:endParaRPr lang="en-US" sz="1800" dirty="0"/>
          </a:p>
        </p:txBody>
      </p:sp>
      <p:sp>
        <p:nvSpPr>
          <p:cNvPr id="33" name="Text 30"/>
          <p:cNvSpPr txBox="1"/>
          <p:nvPr/>
        </p:nvSpPr>
        <p:spPr>
          <a:xfrm>
            <a:off x="8321040" y="5074920"/>
            <a:ext cx="3063240" cy="868680"/>
          </a:xfrm>
          <a:prstGeom prst="rect">
            <a:avLst/>
          </a:prstGeom>
          <a:noFill/>
          <a:ln/>
        </p:spPr>
        <p:txBody>
          <a:bodyPr wrap="square" lIns="0" tIns="0" rIns="0" bIns="0" rtlCol="0" anchor="t"/>
          <a:lstStyle/>
          <a:p>
            <a:pPr marL="0" indent="0">
              <a:buNone/>
            </a:pPr>
            <a:r>
              <a:rPr lang="en-US" sz="1400" dirty="0">
                <a:solidFill>
                  <a:srgbClr val="0B1F3A"/>
                </a:solidFill>
              </a:rPr>
              <a:t>Top and bottom customers and states, profit on the map, and the regional split.</a:t>
            </a:r>
            <a:endParaRPr lang="en-US" sz="1400" dirty="0"/>
          </a:p>
        </p:txBody>
      </p:sp>
      <p:sp>
        <p:nvSpPr>
          <p:cNvPr id="3"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0B2A5B"/>
                </a:solidFill>
              </a:rPr>
              <a:t>Every year follows almost the same revenue rhythm</a:t>
            </a:r>
            <a:endParaRPr lang="en-US" sz="3000" dirty="0"/>
          </a:p>
        </p:txBody>
      </p:sp>
      <p:sp>
        <p:nvSpPr>
          <p:cNvPr id="3" name="Chart tag"/>
          <p:cNvSpPr txBox="1"/>
          <p:nvPr/>
        </p:nvSpPr>
        <p:spPr>
          <a:xfrm>
            <a:off x="548640" y="1371600"/>
            <a:ext cx="11064240" cy="274320"/>
          </a:xfrm>
          <a:prstGeom prst="rect">
            <a:avLst/>
          </a:prstGeom>
          <a:noFill/>
          <a:ln/>
        </p:spPr>
        <p:txBody>
          <a:bodyPr wrap="square" lIns="0" tIns="0" rIns="0" bIns="0" rtlCol="0" anchor="ctr"/>
          <a:lstStyle/>
          <a:p>
            <a:pPr marL="0" indent="0">
              <a:buNone/>
            </a:pPr>
            <a:r>
              <a:rPr lang="en-US" sz="1200" b="1" kern="0" spc="200" dirty="0">
                <a:solidFill>
                  <a:srgbClr val="2F6FDB"/>
                </a:solidFill>
              </a:rPr>
              <a:t>DASHBOARD CHART  ·  MONTHLY REVENUE RHYTHM</a:t>
            </a:r>
            <a:endParaRPr lang="en-US" sz="1200" dirty="0"/>
          </a:p>
        </p:txBody>
      </p:sp>
      <p:sp>
        <p:nvSpPr>
          <p:cNvPr id="6" name="Insight panel"/>
          <p:cNvSpPr/>
          <p:nvPr/>
        </p:nvSpPr>
        <p:spPr>
          <a:xfrm>
            <a:off x="7863840" y="1737360"/>
            <a:ext cx="3794760" cy="4297680"/>
          </a:xfrm>
          <a:prstGeom prst="roundRect">
            <a:avLst>
              <a:gd name="adj" fmla="val 3614"/>
            </a:avLst>
          </a:prstGeom>
          <a:solidFill>
            <a:srgbClr val="EEF3FA"/>
          </a:solidFill>
          <a:ln w="12700">
            <a:solidFill>
              <a:srgbClr val="EEF3FA"/>
            </a:solidFill>
            <a:prstDash val="solid"/>
          </a:ln>
        </p:spPr>
      </p:sp>
      <p:sp>
        <p:nvSpPr>
          <p:cNvPr id="7" name="Key number"/>
          <p:cNvSpPr txBox="1"/>
          <p:nvPr/>
        </p:nvSpPr>
        <p:spPr>
          <a:xfrm>
            <a:off x="8138160" y="1920240"/>
            <a:ext cx="3246120" cy="822960"/>
          </a:xfrm>
          <a:prstGeom prst="rect">
            <a:avLst/>
          </a:prstGeom>
          <a:noFill/>
          <a:ln/>
        </p:spPr>
        <p:txBody>
          <a:bodyPr wrap="square" lIns="0" tIns="0" rIns="0" bIns="0" rtlCol="0" anchor="ctr"/>
          <a:lstStyle/>
          <a:p>
            <a:pPr marL="0" indent="0">
              <a:buNone/>
            </a:pPr>
            <a:r>
              <a:rPr lang="en-US" sz="4600" b="1" dirty="0">
                <a:solidFill>
                  <a:srgbClr val="0B2A5B"/>
                </a:solidFill>
                <a:latin typeface="+mj-lt" pitchFamily="34" charset="0"/>
                <a:ea typeface="+mj-lt" pitchFamily="34" charset="-122"/>
                <a:cs typeface="+mj-lt" pitchFamily="34" charset="-120"/>
              </a:rPr>
              <a:t>$24.7M</a:t>
            </a:r>
            <a:endParaRPr lang="en-US" sz="4600" dirty="0"/>
          </a:p>
        </p:txBody>
      </p:sp>
      <p:sp>
        <p:nvSpPr>
          <p:cNvPr id="8" name="Key number label"/>
          <p:cNvSpPr txBox="1"/>
          <p:nvPr/>
        </p:nvSpPr>
        <p:spPr>
          <a:xfrm>
            <a:off x="8138160" y="2743200"/>
            <a:ext cx="3246120" cy="502920"/>
          </a:xfrm>
          <a:prstGeom prst="rect">
            <a:avLst/>
          </a:prstGeom>
          <a:noFill/>
          <a:ln/>
        </p:spPr>
        <p:txBody>
          <a:bodyPr wrap="square" lIns="0" tIns="0" rIns="0" bIns="0" rtlCol="0" anchor="t"/>
          <a:lstStyle/>
          <a:p>
            <a:pPr marL="0" indent="0">
              <a:buNone/>
            </a:pPr>
            <a:r>
              <a:rPr lang="en-US" sz="1400" dirty="0">
                <a:solidFill>
                  <a:srgbClr val="4A5B78"/>
                </a:solidFill>
              </a:rPr>
              <a:t>average month, Jan 2014 – Feb 2018</a:t>
            </a:r>
            <a:endParaRPr lang="en-US" sz="1400" dirty="0"/>
          </a:p>
        </p:txBody>
      </p:sp>
      <p:sp>
        <p:nvSpPr>
          <p:cNvPr id="9" name="Commentary"/>
          <p:cNvSpPr txBox="1"/>
          <p:nvPr/>
        </p:nvSpPr>
        <p:spPr>
          <a:xfrm>
            <a:off x="8138160" y="3337560"/>
            <a:ext cx="3246120" cy="2560320"/>
          </a:xfrm>
          <a:prstGeom prst="rect">
            <a:avLst/>
          </a:prstGeom>
          <a:noFill/>
          <a:ln/>
        </p:spPr>
        <p:txBody>
          <a:bodyPr wrap="square" lIns="0" tIns="0" rIns="0" bIns="0" rtlCol="0" anchor="t"/>
          <a:lstStyle/>
          <a:p>
            <a:pPr marL="0" indent="0">
              <a:spcAft>
                <a:spcPts val="1000"/>
              </a:spcAft>
              <a:buNone/>
            </a:pPr>
            <a:r>
              <a:rPr lang="en-US" sz="1500" dirty="0">
                <a:solidFill>
                  <a:srgbClr val="0B1F3A"/>
                </a:solidFill>
              </a:rPr>
              <a:t>Lines for 2014–2017 stay inside a band of roughly $23M to $26.5M, so the yearly pattern barely changes.</a:t>
            </a:r>
            <a:endParaRPr lang="en-US" sz="1500" dirty="0"/>
          </a:p>
          <a:p>
            <a:pPr marL="0" indent="0">
              <a:spcAft>
                <a:spcPts val="1000"/>
              </a:spcAft>
              <a:buNone/>
            </a:pPr>
            <a:r>
              <a:rPr lang="en-US" sz="1500" dirty="0">
                <a:solidFill>
                  <a:srgbClr val="0B1F3A"/>
                </a:solidFill>
              </a:rPr>
              <a:t>February 2017 at $21.2M is about 14% under average and the one dip worth investigating.</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3</a:t>
            </a:fld>
            <a:endParaRPr lang="en-US"/>
          </a:p>
        </p:txBody>
      </p:sp>
      <p:pic>
        <p:nvPicPr>
          <p:cNvPr id="12" name="Picture 11">
            <a:extLst>
              <a:ext uri="{FF2B5EF4-FFF2-40B4-BE49-F238E27FC236}">
                <a16:creationId xmlns:a16="http://schemas.microsoft.com/office/drawing/2014/main" id="{75156DDD-CF6C-019A-DB4D-8D6693D98AC8}"/>
              </a:ext>
            </a:extLst>
          </p:cNvPr>
          <p:cNvPicPr>
            <a:picLocks noChangeAspect="1"/>
          </p:cNvPicPr>
          <p:nvPr/>
        </p:nvPicPr>
        <p:blipFill>
          <a:blip r:embed="rId3"/>
          <a:stretch>
            <a:fillRect/>
          </a:stretch>
        </p:blipFill>
        <p:spPr>
          <a:xfrm>
            <a:off x="548640" y="1737360"/>
            <a:ext cx="7048500" cy="43053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0B2A5B"/>
                </a:solidFill>
              </a:rPr>
              <a:t>Profit moves in lockstep with revenue</a:t>
            </a:r>
            <a:endParaRPr lang="en-US" sz="3000" dirty="0"/>
          </a:p>
        </p:txBody>
      </p:sp>
      <p:sp>
        <p:nvSpPr>
          <p:cNvPr id="3" name="Chart tag"/>
          <p:cNvSpPr txBox="1"/>
          <p:nvPr/>
        </p:nvSpPr>
        <p:spPr>
          <a:xfrm>
            <a:off x="548640" y="1371600"/>
            <a:ext cx="11064240" cy="274320"/>
          </a:xfrm>
          <a:prstGeom prst="rect">
            <a:avLst/>
          </a:prstGeom>
          <a:noFill/>
          <a:ln/>
        </p:spPr>
        <p:txBody>
          <a:bodyPr wrap="square" lIns="0" tIns="0" rIns="0" bIns="0" rtlCol="0" anchor="ctr"/>
          <a:lstStyle/>
          <a:p>
            <a:pPr marL="0" indent="0">
              <a:buNone/>
            </a:pPr>
            <a:r>
              <a:rPr lang="en-US" sz="1200" b="1" kern="0" spc="200" dirty="0">
                <a:solidFill>
                  <a:srgbClr val="2F6FDB"/>
                </a:solidFill>
              </a:rPr>
              <a:t>DASHBOARD CHART  ·  TRACKING MONTHLY EARNINGS MOMENTUM</a:t>
            </a:r>
            <a:endParaRPr lang="en-US" sz="1200" dirty="0"/>
          </a:p>
        </p:txBody>
      </p:sp>
      <p:graphicFrame>
        <p:nvGraphicFramePr>
          <p:cNvPr id="5" name="Chart 0"/>
          <p:cNvGraphicFramePr/>
          <p:nvPr/>
        </p:nvGraphicFramePr>
        <p:xfrm>
          <a:off x="548640" y="1737360"/>
          <a:ext cx="70408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Insight panel"/>
          <p:cNvSpPr/>
          <p:nvPr/>
        </p:nvSpPr>
        <p:spPr>
          <a:xfrm>
            <a:off x="7863840" y="1737360"/>
            <a:ext cx="3794760" cy="4297680"/>
          </a:xfrm>
          <a:prstGeom prst="roundRect">
            <a:avLst>
              <a:gd name="adj" fmla="val 3614"/>
            </a:avLst>
          </a:prstGeom>
          <a:solidFill>
            <a:srgbClr val="EEF3FA"/>
          </a:solidFill>
          <a:ln w="12700">
            <a:solidFill>
              <a:srgbClr val="EEF3FA"/>
            </a:solidFill>
            <a:prstDash val="solid"/>
          </a:ln>
        </p:spPr>
      </p:sp>
      <p:sp>
        <p:nvSpPr>
          <p:cNvPr id="7" name="Key number"/>
          <p:cNvSpPr txBox="1"/>
          <p:nvPr/>
        </p:nvSpPr>
        <p:spPr>
          <a:xfrm>
            <a:off x="8138160" y="1920240"/>
            <a:ext cx="3246120" cy="822960"/>
          </a:xfrm>
          <a:prstGeom prst="rect">
            <a:avLst/>
          </a:prstGeom>
          <a:noFill/>
          <a:ln/>
        </p:spPr>
        <p:txBody>
          <a:bodyPr wrap="square" lIns="0" tIns="0" rIns="0" bIns="0" rtlCol="0" anchor="ctr"/>
          <a:lstStyle/>
          <a:p>
            <a:pPr marL="0" indent="0">
              <a:buNone/>
            </a:pPr>
            <a:r>
              <a:rPr lang="en-US" sz="4600" b="1" dirty="0">
                <a:solidFill>
                  <a:srgbClr val="0B2A5B"/>
                </a:solidFill>
                <a:latin typeface="+mj-lt" pitchFamily="34" charset="0"/>
                <a:ea typeface="+mj-lt" pitchFamily="34" charset="-122"/>
                <a:cs typeface="+mj-lt" pitchFamily="34" charset="-120"/>
              </a:rPr>
              <a:t>$9.2M</a:t>
            </a:r>
            <a:endParaRPr lang="en-US" sz="4600" dirty="0"/>
          </a:p>
        </p:txBody>
      </p:sp>
      <p:sp>
        <p:nvSpPr>
          <p:cNvPr id="8" name="Key number label"/>
          <p:cNvSpPr txBox="1"/>
          <p:nvPr/>
        </p:nvSpPr>
        <p:spPr>
          <a:xfrm>
            <a:off x="8138160" y="2743200"/>
            <a:ext cx="3246120" cy="502920"/>
          </a:xfrm>
          <a:prstGeom prst="rect">
            <a:avLst/>
          </a:prstGeom>
          <a:noFill/>
          <a:ln/>
        </p:spPr>
        <p:txBody>
          <a:bodyPr wrap="square" lIns="0" tIns="0" rIns="0" bIns="0" rtlCol="0" anchor="t"/>
          <a:lstStyle/>
          <a:p>
            <a:pPr marL="0" indent="0">
              <a:buNone/>
            </a:pPr>
            <a:r>
              <a:rPr lang="en-US" sz="1400" dirty="0">
                <a:solidFill>
                  <a:srgbClr val="4A5B78"/>
                </a:solidFill>
              </a:rPr>
              <a:t>average monthly profit</a:t>
            </a:r>
            <a:endParaRPr lang="en-US" sz="1400" dirty="0"/>
          </a:p>
        </p:txBody>
      </p:sp>
      <p:sp>
        <p:nvSpPr>
          <p:cNvPr id="9" name="Commentary"/>
          <p:cNvSpPr txBox="1"/>
          <p:nvPr/>
        </p:nvSpPr>
        <p:spPr>
          <a:xfrm>
            <a:off x="8138160" y="3337560"/>
            <a:ext cx="3246120" cy="2560320"/>
          </a:xfrm>
          <a:prstGeom prst="rect">
            <a:avLst/>
          </a:prstGeom>
          <a:noFill/>
          <a:ln/>
        </p:spPr>
        <p:txBody>
          <a:bodyPr wrap="square" lIns="0" tIns="0" rIns="0" bIns="0" rtlCol="0" anchor="t"/>
          <a:lstStyle/>
          <a:p>
            <a:pPr marL="0" indent="0">
              <a:spcAft>
                <a:spcPts val="1000"/>
              </a:spcAft>
              <a:buNone/>
            </a:pPr>
            <a:r>
              <a:rPr lang="en-US" sz="1500" dirty="0">
                <a:solidFill>
                  <a:srgbClr val="0B1F3A"/>
                </a:solidFill>
              </a:rPr>
              <a:t>Profit ranges from $8.0M (Feb 2017) to $9.9M (Aug 2015).</a:t>
            </a:r>
            <a:endParaRPr lang="en-US" sz="1500" dirty="0"/>
          </a:p>
          <a:p>
            <a:pPr marL="0" indent="0">
              <a:spcAft>
                <a:spcPts val="1000"/>
              </a:spcAft>
              <a:buNone/>
            </a:pPr>
            <a:r>
              <a:rPr lang="en-US" sz="1500" dirty="0">
                <a:solidFill>
                  <a:srgbClr val="0B1F3A"/>
                </a:solidFill>
              </a:rPr>
              <a:t>That is about 37 cents of profit on every dollar of revenue, so a revenue dip becomes a profit dip almost one for one.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0B2A5B"/>
                </a:solidFill>
              </a:rPr>
              <a:t>Price level tells us nothing about margin</a:t>
            </a:r>
            <a:endParaRPr lang="en-US" sz="3000" dirty="0"/>
          </a:p>
        </p:txBody>
      </p:sp>
      <p:sp>
        <p:nvSpPr>
          <p:cNvPr id="3" name="Chart tag"/>
          <p:cNvSpPr txBox="1"/>
          <p:nvPr/>
        </p:nvSpPr>
        <p:spPr>
          <a:xfrm>
            <a:off x="548640" y="1371600"/>
            <a:ext cx="11064240" cy="274320"/>
          </a:xfrm>
          <a:prstGeom prst="rect">
            <a:avLst/>
          </a:prstGeom>
          <a:noFill/>
          <a:ln/>
        </p:spPr>
        <p:txBody>
          <a:bodyPr wrap="square" lIns="0" tIns="0" rIns="0" bIns="0" rtlCol="0" anchor="ctr"/>
          <a:lstStyle/>
          <a:p>
            <a:pPr marL="0" indent="0">
              <a:buNone/>
            </a:pPr>
            <a:r>
              <a:rPr lang="en-US" sz="1200" b="1" kern="0" spc="200" dirty="0">
                <a:solidFill>
                  <a:srgbClr val="2F6FDB"/>
                </a:solidFill>
              </a:rPr>
              <a:t>DASHBOARD CHART  ·  UNIT PRICE VS PROFIT MARGIN</a:t>
            </a:r>
            <a:endParaRPr lang="en-US" sz="1200" dirty="0"/>
          </a:p>
        </p:txBody>
      </p:sp>
      <p:sp>
        <p:nvSpPr>
          <p:cNvPr id="6" name="Chart caption"/>
          <p:cNvSpPr txBox="1"/>
          <p:nvPr/>
        </p:nvSpPr>
        <p:spPr>
          <a:xfrm>
            <a:off x="548640" y="5806440"/>
            <a:ext cx="7040880" cy="274320"/>
          </a:xfrm>
          <a:prstGeom prst="rect">
            <a:avLst/>
          </a:prstGeom>
          <a:noFill/>
          <a:ln/>
        </p:spPr>
        <p:txBody>
          <a:bodyPr wrap="square" lIns="0" tIns="0" rIns="0" bIns="0" rtlCol="0" anchor="ctr"/>
          <a:lstStyle/>
          <a:p>
            <a:pPr marL="0" indent="0">
              <a:buNone/>
            </a:pPr>
            <a:r>
              <a:rPr lang="en-US" sz="1200" dirty="0">
                <a:solidFill>
                  <a:srgbClr val="4A5B78"/>
                </a:solidFill>
              </a:rPr>
              <a:t>Each dot is one order line (random sample of 500 of 64,104).</a:t>
            </a:r>
            <a:endParaRPr lang="en-US" sz="1200" dirty="0"/>
          </a:p>
        </p:txBody>
      </p:sp>
      <p:sp>
        <p:nvSpPr>
          <p:cNvPr id="7" name="Insight panel"/>
          <p:cNvSpPr/>
          <p:nvPr/>
        </p:nvSpPr>
        <p:spPr>
          <a:xfrm>
            <a:off x="7863840" y="1737360"/>
            <a:ext cx="3794760" cy="4297680"/>
          </a:xfrm>
          <a:prstGeom prst="roundRect">
            <a:avLst>
              <a:gd name="adj" fmla="val 3614"/>
            </a:avLst>
          </a:prstGeom>
          <a:solidFill>
            <a:srgbClr val="EEF3FA"/>
          </a:solidFill>
          <a:ln w="12700">
            <a:solidFill>
              <a:srgbClr val="EEF3FA"/>
            </a:solidFill>
            <a:prstDash val="solid"/>
          </a:ln>
        </p:spPr>
      </p:sp>
      <p:sp>
        <p:nvSpPr>
          <p:cNvPr id="8" name="Key number"/>
          <p:cNvSpPr txBox="1"/>
          <p:nvPr/>
        </p:nvSpPr>
        <p:spPr>
          <a:xfrm>
            <a:off x="8138160" y="1920240"/>
            <a:ext cx="3246120" cy="822960"/>
          </a:xfrm>
          <a:prstGeom prst="rect">
            <a:avLst/>
          </a:prstGeom>
          <a:noFill/>
          <a:ln/>
        </p:spPr>
        <p:txBody>
          <a:bodyPr wrap="square" lIns="0" tIns="0" rIns="0" bIns="0" rtlCol="0" anchor="ctr"/>
          <a:lstStyle/>
          <a:p>
            <a:pPr marL="0" indent="0">
              <a:buNone/>
            </a:pPr>
            <a:r>
              <a:rPr lang="en-US" sz="4600" b="1" dirty="0">
                <a:solidFill>
                  <a:srgbClr val="4A5B78"/>
                </a:solidFill>
                <a:latin typeface="+mj-lt" pitchFamily="34" charset="0"/>
                <a:ea typeface="+mj-lt" pitchFamily="34" charset="-122"/>
                <a:cs typeface="+mj-lt" pitchFamily="34" charset="-120"/>
              </a:rPr>
              <a:t>−0.01</a:t>
            </a:r>
            <a:endParaRPr lang="en-US" sz="4600" dirty="0"/>
          </a:p>
        </p:txBody>
      </p:sp>
      <p:sp>
        <p:nvSpPr>
          <p:cNvPr id="9" name="Key number label"/>
          <p:cNvSpPr txBox="1"/>
          <p:nvPr/>
        </p:nvSpPr>
        <p:spPr>
          <a:xfrm>
            <a:off x="8138160" y="2743200"/>
            <a:ext cx="3246120" cy="502920"/>
          </a:xfrm>
          <a:prstGeom prst="rect">
            <a:avLst/>
          </a:prstGeom>
          <a:noFill/>
          <a:ln/>
        </p:spPr>
        <p:txBody>
          <a:bodyPr wrap="square" lIns="0" tIns="0" rIns="0" bIns="0" rtlCol="0" anchor="t"/>
          <a:lstStyle/>
          <a:p>
            <a:pPr marL="0" indent="0">
              <a:buNone/>
            </a:pPr>
            <a:r>
              <a:rPr lang="en-US" sz="1400" dirty="0">
                <a:solidFill>
                  <a:srgbClr val="4A5B78"/>
                </a:solidFill>
              </a:rPr>
              <a:t>correlation of unit price with margin</a:t>
            </a:r>
            <a:endParaRPr lang="en-US" sz="1400" dirty="0"/>
          </a:p>
        </p:txBody>
      </p:sp>
      <p:sp>
        <p:nvSpPr>
          <p:cNvPr id="10" name="Commentary"/>
          <p:cNvSpPr txBox="1"/>
          <p:nvPr/>
        </p:nvSpPr>
        <p:spPr>
          <a:xfrm>
            <a:off x="8138160" y="3337560"/>
            <a:ext cx="3246120" cy="2560320"/>
          </a:xfrm>
          <a:prstGeom prst="rect">
            <a:avLst/>
          </a:prstGeom>
          <a:noFill/>
          <a:ln/>
        </p:spPr>
        <p:txBody>
          <a:bodyPr wrap="square" lIns="0" tIns="0" rIns="0" bIns="0" rtlCol="0" anchor="t"/>
          <a:lstStyle/>
          <a:p>
            <a:pPr marL="0" indent="0">
              <a:spcAft>
                <a:spcPts val="1000"/>
              </a:spcAft>
              <a:buNone/>
            </a:pPr>
            <a:r>
              <a:rPr lang="en-US" sz="1500" dirty="0">
                <a:solidFill>
                  <a:srgbClr val="0B1F3A"/>
                </a:solidFill>
              </a:rPr>
              <a:t>Prices run from $168 to $6,566 and margins from 15% to 60%.</a:t>
            </a:r>
            <a:endParaRPr lang="en-US" sz="1500" dirty="0"/>
          </a:p>
          <a:p>
            <a:pPr marL="0" indent="0">
              <a:spcAft>
                <a:spcPts val="1000"/>
              </a:spcAft>
              <a:buNone/>
            </a:pPr>
            <a:r>
              <a:rPr lang="en-US" sz="1500" dirty="0">
                <a:solidFill>
                  <a:srgbClr val="0B1F3A"/>
                </a:solidFill>
              </a:rPr>
              <a:t>A cheap line is as likely to be thin-margin as an expensive one, so margin has to be managed through discounts and costs, not by price tier.</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5</a:t>
            </a:fld>
            <a:endParaRPr lang="en-US"/>
          </a:p>
        </p:txBody>
      </p:sp>
      <p:pic>
        <p:nvPicPr>
          <p:cNvPr id="15" name="Picture 14">
            <a:extLst>
              <a:ext uri="{FF2B5EF4-FFF2-40B4-BE49-F238E27FC236}">
                <a16:creationId xmlns:a16="http://schemas.microsoft.com/office/drawing/2014/main" id="{8F51F33D-EBB5-C517-BAE5-442957A3A3AA}"/>
              </a:ext>
            </a:extLst>
          </p:cNvPr>
          <p:cNvPicPr>
            <a:picLocks noChangeAspect="1"/>
          </p:cNvPicPr>
          <p:nvPr/>
        </p:nvPicPr>
        <p:blipFill>
          <a:blip r:embed="rId3"/>
          <a:stretch>
            <a:fillRect/>
          </a:stretch>
        </p:blipFill>
        <p:spPr>
          <a:xfrm>
            <a:off x="579120" y="1630680"/>
            <a:ext cx="7040880" cy="3855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0B2A5B"/>
                </a:solidFill>
              </a:rPr>
              <a:t>Two products lead, and a long tail trails behind</a:t>
            </a:r>
            <a:endParaRPr lang="en-US" sz="3000" dirty="0"/>
          </a:p>
        </p:txBody>
      </p:sp>
      <p:sp>
        <p:nvSpPr>
          <p:cNvPr id="3" name="Chart tag"/>
          <p:cNvSpPr txBox="1"/>
          <p:nvPr/>
        </p:nvSpPr>
        <p:spPr>
          <a:xfrm>
            <a:off x="548640" y="1371600"/>
            <a:ext cx="11064240" cy="274320"/>
          </a:xfrm>
          <a:prstGeom prst="rect">
            <a:avLst/>
          </a:prstGeom>
          <a:noFill/>
          <a:ln/>
        </p:spPr>
        <p:txBody>
          <a:bodyPr wrap="square" lIns="0" tIns="0" rIns="0" bIns="0" rtlCol="0" anchor="ctr"/>
          <a:lstStyle/>
          <a:p>
            <a:pPr marL="0" indent="0">
              <a:buNone/>
            </a:pPr>
            <a:r>
              <a:rPr lang="en-US" sz="1200" b="1" kern="0" spc="200" dirty="0">
                <a:solidFill>
                  <a:srgbClr val="2F6FDB"/>
                </a:solidFill>
              </a:rPr>
              <a:t>DASHBOARD CHART  ·  BEST-SELLING PRODUCTS DRIVING GROWTH</a:t>
            </a:r>
            <a:endParaRPr lang="en-US" sz="1200" dirty="0"/>
          </a:p>
        </p:txBody>
      </p:sp>
      <p:sp>
        <p:nvSpPr>
          <p:cNvPr id="6" name="Takeaway strip"/>
          <p:cNvSpPr/>
          <p:nvPr/>
        </p:nvSpPr>
        <p:spPr>
          <a:xfrm>
            <a:off x="548640" y="5349240"/>
            <a:ext cx="11109960" cy="868680"/>
          </a:xfrm>
          <a:prstGeom prst="roundRect">
            <a:avLst>
              <a:gd name="adj" fmla="val 15789"/>
            </a:avLst>
          </a:prstGeom>
          <a:solidFill>
            <a:srgbClr val="EEF3FA"/>
          </a:solidFill>
          <a:ln w="12700">
            <a:solidFill>
              <a:srgbClr val="EEF3FA"/>
            </a:solidFill>
            <a:prstDash val="solid"/>
          </a:ln>
        </p:spPr>
      </p:sp>
      <p:sp>
        <p:nvSpPr>
          <p:cNvPr id="7" name="Takeaway"/>
          <p:cNvSpPr txBox="1"/>
          <p:nvPr/>
        </p:nvSpPr>
        <p:spPr>
          <a:xfrm>
            <a:off x="822960" y="5394960"/>
            <a:ext cx="10561320" cy="777240"/>
          </a:xfrm>
          <a:prstGeom prst="rect">
            <a:avLst/>
          </a:prstGeom>
          <a:noFill/>
          <a:ln/>
        </p:spPr>
        <p:txBody>
          <a:bodyPr wrap="square" lIns="0" tIns="0" rIns="0" bIns="0" rtlCol="0" anchor="ctr"/>
          <a:lstStyle/>
          <a:p>
            <a:pPr marL="0" indent="0">
              <a:buNone/>
            </a:pPr>
            <a:r>
              <a:rPr lang="en-US" sz="1600" dirty="0">
                <a:solidFill>
                  <a:srgbClr val="0B1F3A"/>
                </a:solidFill>
              </a:rPr>
              <a:t>Products 26 and 25 bring in $227M together, 18% of all revenue. 11 of 30 products each sell under $20M, so the mid-tier is where growth pilots make sense.</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6</a:t>
            </a:fld>
            <a:endParaRPr lang="en-US"/>
          </a:p>
        </p:txBody>
      </p:sp>
      <p:pic>
        <p:nvPicPr>
          <p:cNvPr id="8" name="Picture 7">
            <a:extLst>
              <a:ext uri="{FF2B5EF4-FFF2-40B4-BE49-F238E27FC236}">
                <a16:creationId xmlns:a16="http://schemas.microsoft.com/office/drawing/2014/main" id="{A6CC921B-B4AA-D085-34AE-13203FE4E04B}"/>
              </a:ext>
            </a:extLst>
          </p:cNvPr>
          <p:cNvPicPr>
            <a:picLocks noChangeAspect="1"/>
          </p:cNvPicPr>
          <p:nvPr/>
        </p:nvPicPr>
        <p:blipFill>
          <a:blip r:embed="rId3"/>
          <a:stretch>
            <a:fillRect/>
          </a:stretch>
        </p:blipFill>
        <p:spPr>
          <a:xfrm>
            <a:off x="548640" y="1737360"/>
            <a:ext cx="11064240" cy="35661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0B2A5B"/>
                </a:solidFill>
              </a:rPr>
              <a:t>Margins are tightly packed, so volume decides</a:t>
            </a:r>
            <a:endParaRPr lang="en-US" sz="3000" dirty="0"/>
          </a:p>
        </p:txBody>
      </p:sp>
      <p:sp>
        <p:nvSpPr>
          <p:cNvPr id="3" name="Chart tag"/>
          <p:cNvSpPr txBox="1"/>
          <p:nvPr/>
        </p:nvSpPr>
        <p:spPr>
          <a:xfrm>
            <a:off x="548640" y="1371600"/>
            <a:ext cx="11064240" cy="274320"/>
          </a:xfrm>
          <a:prstGeom prst="rect">
            <a:avLst/>
          </a:prstGeom>
          <a:noFill/>
          <a:ln/>
        </p:spPr>
        <p:txBody>
          <a:bodyPr wrap="square" lIns="0" tIns="0" rIns="0" bIns="0" rtlCol="0" anchor="ctr"/>
          <a:lstStyle/>
          <a:p>
            <a:pPr marL="0" indent="0">
              <a:buNone/>
            </a:pPr>
            <a:r>
              <a:rPr lang="en-US" sz="1200" b="1" kern="0" spc="200" dirty="0">
                <a:solidFill>
                  <a:srgbClr val="2F6FDB"/>
                </a:solidFill>
              </a:rPr>
              <a:t>DASHBOARD CHART  ·  MOST EFFICIENT PRODUCTS TO SELL</a:t>
            </a:r>
            <a:endParaRPr lang="en-US" sz="1200" dirty="0"/>
          </a:p>
        </p:txBody>
      </p:sp>
      <p:sp>
        <p:nvSpPr>
          <p:cNvPr id="6" name="Takeaway strip"/>
          <p:cNvSpPr/>
          <p:nvPr/>
        </p:nvSpPr>
        <p:spPr>
          <a:xfrm>
            <a:off x="548640" y="5349240"/>
            <a:ext cx="11109960" cy="868680"/>
          </a:xfrm>
          <a:prstGeom prst="roundRect">
            <a:avLst>
              <a:gd name="adj" fmla="val 15789"/>
            </a:avLst>
          </a:prstGeom>
          <a:solidFill>
            <a:srgbClr val="EEF3FA"/>
          </a:solidFill>
          <a:ln w="12700">
            <a:solidFill>
              <a:srgbClr val="EEF3FA"/>
            </a:solidFill>
            <a:prstDash val="solid"/>
          </a:ln>
        </p:spPr>
      </p:sp>
      <p:sp>
        <p:nvSpPr>
          <p:cNvPr id="7" name="Takeaway"/>
          <p:cNvSpPr txBox="1"/>
          <p:nvPr/>
        </p:nvSpPr>
        <p:spPr>
          <a:xfrm>
            <a:off x="822960" y="5394960"/>
            <a:ext cx="10561320" cy="777240"/>
          </a:xfrm>
          <a:prstGeom prst="rect">
            <a:avLst/>
          </a:prstGeom>
          <a:noFill/>
          <a:ln/>
        </p:spPr>
        <p:txBody>
          <a:bodyPr wrap="square" lIns="0" tIns="0" rIns="0" bIns="0" rtlCol="0" anchor="ctr"/>
          <a:lstStyle/>
          <a:p>
            <a:pPr marL="0" indent="0">
              <a:buNone/>
            </a:pPr>
            <a:r>
              <a:rPr lang="en-US" sz="1600" dirty="0">
                <a:solidFill>
                  <a:srgbClr val="0B1F3A"/>
                </a:solidFill>
              </a:rPr>
              <a:t>Product 9 is the most efficient at 40.0% but only brings in $14.6M. Product 12 is the lowest at 34.4% on $24.2M. With margins this close, the best sellers are simply the ones that sell the most.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7</a:t>
            </a:fld>
            <a:endParaRPr lang="en-US"/>
          </a:p>
        </p:txBody>
      </p:sp>
      <p:pic>
        <p:nvPicPr>
          <p:cNvPr id="10" name="Picture 9">
            <a:extLst>
              <a:ext uri="{FF2B5EF4-FFF2-40B4-BE49-F238E27FC236}">
                <a16:creationId xmlns:a16="http://schemas.microsoft.com/office/drawing/2014/main" id="{0CFC3F36-C43C-1F20-05F9-5FA9CAF5BD5B}"/>
              </a:ext>
            </a:extLst>
          </p:cNvPr>
          <p:cNvPicPr>
            <a:picLocks noChangeAspect="1"/>
          </p:cNvPicPr>
          <p:nvPr/>
        </p:nvPicPr>
        <p:blipFill>
          <a:blip r:embed="rId3"/>
          <a:stretch>
            <a:fillRect/>
          </a:stretch>
        </p:blipFill>
        <p:spPr>
          <a:xfrm>
            <a:off x="579120" y="1737359"/>
            <a:ext cx="11389042" cy="36118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0B2A5B"/>
                </a:solidFill>
              </a:rPr>
              <a:t>Bigger customers are not more profitable customers</a:t>
            </a:r>
            <a:endParaRPr lang="en-US" sz="3000" dirty="0"/>
          </a:p>
        </p:txBody>
      </p:sp>
      <p:sp>
        <p:nvSpPr>
          <p:cNvPr id="3" name="Chart tag"/>
          <p:cNvSpPr txBox="1"/>
          <p:nvPr/>
        </p:nvSpPr>
        <p:spPr>
          <a:xfrm>
            <a:off x="548640" y="1371600"/>
            <a:ext cx="11064240" cy="274320"/>
          </a:xfrm>
          <a:prstGeom prst="rect">
            <a:avLst/>
          </a:prstGeom>
          <a:noFill/>
          <a:ln/>
        </p:spPr>
        <p:txBody>
          <a:bodyPr wrap="square" lIns="0" tIns="0" rIns="0" bIns="0" rtlCol="0" anchor="ctr"/>
          <a:lstStyle/>
          <a:p>
            <a:pPr marL="0" indent="0">
              <a:buNone/>
            </a:pPr>
            <a:r>
              <a:rPr lang="en-US" sz="1200" b="1" kern="0" spc="200" dirty="0">
                <a:solidFill>
                  <a:srgbClr val="2F6FDB"/>
                </a:solidFill>
              </a:rPr>
              <a:t>DASHBOARD CHART  ·  REVENUE VS. PROFITABILITY</a:t>
            </a:r>
            <a:endParaRPr lang="en-US" sz="1200" dirty="0"/>
          </a:p>
        </p:txBody>
      </p:sp>
      <p:sp>
        <p:nvSpPr>
          <p:cNvPr id="6" name="Insight panel"/>
          <p:cNvSpPr/>
          <p:nvPr/>
        </p:nvSpPr>
        <p:spPr>
          <a:xfrm>
            <a:off x="7863840" y="1737360"/>
            <a:ext cx="3794760" cy="4297680"/>
          </a:xfrm>
          <a:prstGeom prst="roundRect">
            <a:avLst>
              <a:gd name="adj" fmla="val 3614"/>
            </a:avLst>
          </a:prstGeom>
          <a:solidFill>
            <a:srgbClr val="EEF3FA"/>
          </a:solidFill>
          <a:ln w="12700">
            <a:solidFill>
              <a:srgbClr val="EEF3FA"/>
            </a:solidFill>
            <a:prstDash val="solid"/>
          </a:ln>
        </p:spPr>
      </p:sp>
      <p:sp>
        <p:nvSpPr>
          <p:cNvPr id="7" name="Key number"/>
          <p:cNvSpPr txBox="1"/>
          <p:nvPr/>
        </p:nvSpPr>
        <p:spPr>
          <a:xfrm>
            <a:off x="8138160" y="1920240"/>
            <a:ext cx="3246120" cy="822960"/>
          </a:xfrm>
          <a:prstGeom prst="rect">
            <a:avLst/>
          </a:prstGeom>
          <a:noFill/>
          <a:ln/>
        </p:spPr>
        <p:txBody>
          <a:bodyPr wrap="square" lIns="0" tIns="0" rIns="0" bIns="0" rtlCol="0" anchor="ctr"/>
          <a:lstStyle/>
          <a:p>
            <a:pPr marL="0" indent="0">
              <a:buNone/>
            </a:pPr>
            <a:r>
              <a:rPr lang="en-US" sz="4600" b="1" dirty="0">
                <a:solidFill>
                  <a:srgbClr val="0B2A5B"/>
                </a:solidFill>
                <a:latin typeface="+mj-lt" pitchFamily="34" charset="0"/>
                <a:ea typeface="+mj-lt" pitchFamily="34" charset="-122"/>
                <a:cs typeface="+mj-lt" pitchFamily="34" charset="-120"/>
              </a:rPr>
              <a:t>0.03</a:t>
            </a:r>
            <a:endParaRPr lang="en-US" sz="4600" dirty="0"/>
          </a:p>
        </p:txBody>
      </p:sp>
      <p:sp>
        <p:nvSpPr>
          <p:cNvPr id="8" name="Key number label"/>
          <p:cNvSpPr txBox="1"/>
          <p:nvPr/>
        </p:nvSpPr>
        <p:spPr>
          <a:xfrm>
            <a:off x="8138160" y="2743200"/>
            <a:ext cx="3246120" cy="502920"/>
          </a:xfrm>
          <a:prstGeom prst="rect">
            <a:avLst/>
          </a:prstGeom>
          <a:noFill/>
          <a:ln/>
        </p:spPr>
        <p:txBody>
          <a:bodyPr wrap="square" lIns="0" tIns="0" rIns="0" bIns="0" rtlCol="0" anchor="t"/>
          <a:lstStyle/>
          <a:p>
            <a:pPr marL="0" indent="0">
              <a:buNone/>
            </a:pPr>
            <a:r>
              <a:rPr lang="en-US" sz="1400" dirty="0">
                <a:solidFill>
                  <a:srgbClr val="4A5B78"/>
                </a:solidFill>
              </a:rPr>
              <a:t>correlation of order count with margin</a:t>
            </a:r>
            <a:endParaRPr lang="en-US" sz="1400" dirty="0"/>
          </a:p>
        </p:txBody>
      </p:sp>
      <p:sp>
        <p:nvSpPr>
          <p:cNvPr id="9" name="Commentary"/>
          <p:cNvSpPr txBox="1"/>
          <p:nvPr/>
        </p:nvSpPr>
        <p:spPr>
          <a:xfrm>
            <a:off x="8138160" y="3337560"/>
            <a:ext cx="3246120" cy="2560320"/>
          </a:xfrm>
          <a:prstGeom prst="rect">
            <a:avLst/>
          </a:prstGeom>
          <a:noFill/>
          <a:ln/>
        </p:spPr>
        <p:txBody>
          <a:bodyPr wrap="square" lIns="0" tIns="0" rIns="0" bIns="0" rtlCol="0" anchor="t"/>
          <a:lstStyle/>
          <a:p>
            <a:pPr marL="0" indent="0">
              <a:spcAft>
                <a:spcPts val="1000"/>
              </a:spcAft>
              <a:buNone/>
            </a:pPr>
            <a:r>
              <a:rPr lang="en-US" sz="1500" dirty="0">
                <a:solidFill>
                  <a:srgbClr val="0B1F3A"/>
                </a:solidFill>
              </a:rPr>
              <a:t>Across 175 customers, margins sit mostly in the 35–40% range whatever the order count.</a:t>
            </a:r>
            <a:endParaRPr lang="en-US" sz="1500" dirty="0"/>
          </a:p>
          <a:p>
            <a:pPr marL="0" indent="0">
              <a:spcAft>
                <a:spcPts val="1000"/>
              </a:spcAft>
              <a:buNone/>
            </a:pPr>
            <a:r>
              <a:rPr lang="en-US" sz="1500" dirty="0">
                <a:solidFill>
                  <a:srgbClr val="0B1F3A"/>
                </a:solidFill>
              </a:rPr>
              <a:t>Revenue growth in an account does not erode its margin, so scaling top customers is safe.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8</a:t>
            </a:fld>
            <a:endParaRPr lang="en-US"/>
          </a:p>
        </p:txBody>
      </p:sp>
      <p:pic>
        <p:nvPicPr>
          <p:cNvPr id="10" name="Picture 9">
            <a:extLst>
              <a:ext uri="{FF2B5EF4-FFF2-40B4-BE49-F238E27FC236}">
                <a16:creationId xmlns:a16="http://schemas.microsoft.com/office/drawing/2014/main" id="{FEADC4C7-858B-0797-F1F2-50E63978340C}"/>
              </a:ext>
            </a:extLst>
          </p:cNvPr>
          <p:cNvPicPr>
            <a:picLocks noChangeAspect="1"/>
          </p:cNvPicPr>
          <p:nvPr/>
        </p:nvPicPr>
        <p:blipFill>
          <a:blip r:embed="rId3"/>
          <a:stretch>
            <a:fillRect/>
          </a:stretch>
        </p:blipFill>
        <p:spPr>
          <a:xfrm>
            <a:off x="752475" y="1802921"/>
            <a:ext cx="6837045" cy="42264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0B2A5B"/>
                </a:solidFill>
              </a:rPr>
              <a:t>Wholesale is the engine; Export earns the best margin</a:t>
            </a:r>
            <a:endParaRPr lang="en-US" sz="3000" dirty="0"/>
          </a:p>
        </p:txBody>
      </p:sp>
      <p:sp>
        <p:nvSpPr>
          <p:cNvPr id="3" name="Chart tag"/>
          <p:cNvSpPr txBox="1"/>
          <p:nvPr/>
        </p:nvSpPr>
        <p:spPr>
          <a:xfrm>
            <a:off x="548640" y="1371600"/>
            <a:ext cx="11064240" cy="274320"/>
          </a:xfrm>
          <a:prstGeom prst="rect">
            <a:avLst/>
          </a:prstGeom>
          <a:noFill/>
          <a:ln/>
        </p:spPr>
        <p:txBody>
          <a:bodyPr wrap="square" lIns="0" tIns="0" rIns="0" bIns="0" rtlCol="0" anchor="ctr"/>
          <a:lstStyle/>
          <a:p>
            <a:pPr marL="0" indent="0">
              <a:buNone/>
            </a:pPr>
            <a:r>
              <a:rPr lang="en-US" sz="1200" b="1" kern="0" spc="200" dirty="0">
                <a:solidFill>
                  <a:srgbClr val="2F6FDB"/>
                </a:solidFill>
              </a:rPr>
              <a:t>DASHBOARD CHART  ·  CHANNEL POWER PLAY  ·  PROFIT PIPELINE  ·  EFFICIENCY SCORECARD</a:t>
            </a:r>
            <a:endParaRPr lang="en-US" sz="1200" dirty="0"/>
          </a:p>
        </p:txBody>
      </p:sp>
      <p:graphicFrame>
        <p:nvGraphicFramePr>
          <p:cNvPr id="5" name="Chart 0"/>
          <p:cNvGraphicFramePr/>
          <p:nvPr/>
        </p:nvGraphicFramePr>
        <p:xfrm>
          <a:off x="548640" y="1691640"/>
          <a:ext cx="3611880" cy="3520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297680" y="1691640"/>
          <a:ext cx="3611880" cy="35204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2"/>
          <p:cNvGraphicFramePr/>
          <p:nvPr/>
        </p:nvGraphicFramePr>
        <p:xfrm>
          <a:off x="8046720" y="1691640"/>
          <a:ext cx="3611880" cy="3520440"/>
        </p:xfrm>
        <a:graphic>
          <a:graphicData uri="http://schemas.openxmlformats.org/drawingml/2006/chart">
            <c:chart xmlns:c="http://schemas.openxmlformats.org/drawingml/2006/chart" xmlns:r="http://schemas.openxmlformats.org/officeDocument/2006/relationships" r:id="rId5"/>
          </a:graphicData>
        </a:graphic>
      </p:graphicFrame>
      <p:sp>
        <p:nvSpPr>
          <p:cNvPr id="8" name="Takeaway strip"/>
          <p:cNvSpPr/>
          <p:nvPr/>
        </p:nvSpPr>
        <p:spPr>
          <a:xfrm>
            <a:off x="548640" y="5349240"/>
            <a:ext cx="11109960" cy="868680"/>
          </a:xfrm>
          <a:prstGeom prst="roundRect">
            <a:avLst>
              <a:gd name="adj" fmla="val 15789"/>
            </a:avLst>
          </a:prstGeom>
          <a:solidFill>
            <a:srgbClr val="EEF3FA"/>
          </a:solidFill>
          <a:ln w="12700">
            <a:solidFill>
              <a:srgbClr val="EEF3FA"/>
            </a:solidFill>
            <a:prstDash val="solid"/>
          </a:ln>
        </p:spPr>
      </p:sp>
      <p:sp>
        <p:nvSpPr>
          <p:cNvPr id="9" name="Takeaway"/>
          <p:cNvSpPr txBox="1"/>
          <p:nvPr/>
        </p:nvSpPr>
        <p:spPr>
          <a:xfrm>
            <a:off x="822960" y="5394960"/>
            <a:ext cx="10561320" cy="777240"/>
          </a:xfrm>
          <a:prstGeom prst="rect">
            <a:avLst/>
          </a:prstGeom>
          <a:noFill/>
          <a:ln/>
        </p:spPr>
        <p:txBody>
          <a:bodyPr wrap="square" lIns="0" tIns="0" rIns="0" bIns="0" rtlCol="0" anchor="ctr"/>
          <a:lstStyle/>
          <a:p>
            <a:pPr marL="0" indent="0">
              <a:buNone/>
            </a:pPr>
            <a:r>
              <a:rPr lang="en-US" sz="1600" dirty="0">
                <a:solidFill>
                  <a:srgbClr val="0B1F3A"/>
                </a:solidFill>
              </a:rPr>
              <a:t>Wholesale: $668M revenue (54%) at 37.0% margin.  Distributor: $387M at 37.6%.  Export: $181M at 38.0%, the best. Growing Export spreads risk without giving up profit.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0B2A5B"/>
                </a:solidFill>
              </a:rPr>
              <a:t>Our biggest customers are only about twice our smallest</a:t>
            </a:r>
            <a:endParaRPr lang="en-US" sz="3000" dirty="0"/>
          </a:p>
        </p:txBody>
      </p:sp>
      <p:sp>
        <p:nvSpPr>
          <p:cNvPr id="3" name="Chart tag"/>
          <p:cNvSpPr txBox="1"/>
          <p:nvPr/>
        </p:nvSpPr>
        <p:spPr>
          <a:xfrm>
            <a:off x="548640" y="1371600"/>
            <a:ext cx="11064240" cy="274320"/>
          </a:xfrm>
          <a:prstGeom prst="rect">
            <a:avLst/>
          </a:prstGeom>
          <a:noFill/>
          <a:ln/>
        </p:spPr>
        <p:txBody>
          <a:bodyPr wrap="square" lIns="0" tIns="0" rIns="0" bIns="0" rtlCol="0" anchor="ctr"/>
          <a:lstStyle/>
          <a:p>
            <a:pPr marL="0" indent="0">
              <a:buNone/>
            </a:pPr>
            <a:r>
              <a:rPr lang="en-US" sz="1200" b="1" kern="0" spc="200" dirty="0">
                <a:solidFill>
                  <a:srgbClr val="2F6FDB"/>
                </a:solidFill>
              </a:rPr>
              <a:t>DASHBOARD CHART  ·  TOP 5 AND BOTTOM 5 CUSTOMERS BY REVENUE</a:t>
            </a:r>
            <a:endParaRPr lang="en-US" sz="1200" dirty="0"/>
          </a:p>
        </p:txBody>
      </p:sp>
      <p:sp>
        <p:nvSpPr>
          <p:cNvPr id="5" name="Top 5 by revenue"/>
          <p:cNvSpPr txBox="1"/>
          <p:nvPr/>
        </p:nvSpPr>
        <p:spPr>
          <a:xfrm>
            <a:off x="548640" y="1691640"/>
            <a:ext cx="5394960" cy="320040"/>
          </a:xfrm>
          <a:prstGeom prst="rect">
            <a:avLst/>
          </a:prstGeom>
          <a:noFill/>
          <a:ln/>
        </p:spPr>
        <p:txBody>
          <a:bodyPr wrap="square" lIns="0" tIns="0" rIns="0" bIns="0" rtlCol="0" anchor="ctr"/>
          <a:lstStyle/>
          <a:p>
            <a:pPr marL="0" indent="0">
              <a:buNone/>
            </a:pPr>
            <a:r>
              <a:rPr lang="en-US" sz="1600" b="1" dirty="0">
                <a:solidFill>
                  <a:srgbClr val="0B2A5B"/>
                </a:solidFill>
              </a:rPr>
              <a:t>Top 5 by revenue</a:t>
            </a:r>
            <a:endParaRPr lang="en-US" sz="1600" dirty="0"/>
          </a:p>
        </p:txBody>
      </p:sp>
      <p:graphicFrame>
        <p:nvGraphicFramePr>
          <p:cNvPr id="6" name="Chart 0"/>
          <p:cNvGraphicFramePr/>
          <p:nvPr/>
        </p:nvGraphicFramePr>
        <p:xfrm>
          <a:off x="548640" y="2011680"/>
          <a:ext cx="54406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Bottom 5 by revenue"/>
          <p:cNvSpPr txBox="1"/>
          <p:nvPr/>
        </p:nvSpPr>
        <p:spPr>
          <a:xfrm>
            <a:off x="6217920" y="1691640"/>
            <a:ext cx="5394960" cy="320040"/>
          </a:xfrm>
          <a:prstGeom prst="rect">
            <a:avLst/>
          </a:prstGeom>
          <a:noFill/>
          <a:ln/>
        </p:spPr>
        <p:txBody>
          <a:bodyPr wrap="square" lIns="0" tIns="0" rIns="0" bIns="0" rtlCol="0" anchor="ctr"/>
          <a:lstStyle/>
          <a:p>
            <a:pPr marL="0" indent="0">
              <a:buNone/>
            </a:pPr>
            <a:r>
              <a:rPr lang="en-US" sz="1600" b="1" dirty="0">
                <a:solidFill>
                  <a:srgbClr val="0B2A5B"/>
                </a:solidFill>
              </a:rPr>
              <a:t>Bottom 5 by revenue</a:t>
            </a:r>
            <a:endParaRPr lang="en-US" sz="1600" dirty="0"/>
          </a:p>
        </p:txBody>
      </p:sp>
      <p:graphicFrame>
        <p:nvGraphicFramePr>
          <p:cNvPr id="8" name="Chart 1"/>
          <p:cNvGraphicFramePr/>
          <p:nvPr/>
        </p:nvGraphicFramePr>
        <p:xfrm>
          <a:off x="6217920" y="2011680"/>
          <a:ext cx="544068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9" name="Takeaway strip"/>
          <p:cNvSpPr/>
          <p:nvPr/>
        </p:nvSpPr>
        <p:spPr>
          <a:xfrm>
            <a:off x="548640" y="5349240"/>
            <a:ext cx="11109960" cy="868680"/>
          </a:xfrm>
          <a:prstGeom prst="roundRect">
            <a:avLst>
              <a:gd name="adj" fmla="val 15789"/>
            </a:avLst>
          </a:prstGeom>
          <a:solidFill>
            <a:srgbClr val="EEF3FA"/>
          </a:solidFill>
          <a:ln w="12700">
            <a:solidFill>
              <a:srgbClr val="EEF3FA"/>
            </a:solidFill>
            <a:prstDash val="solid"/>
          </a:ln>
        </p:spPr>
      </p:sp>
      <p:sp>
        <p:nvSpPr>
          <p:cNvPr id="10" name="Takeaway"/>
          <p:cNvSpPr txBox="1"/>
          <p:nvPr/>
        </p:nvSpPr>
        <p:spPr>
          <a:xfrm>
            <a:off x="822960" y="5394960"/>
            <a:ext cx="10561320" cy="777240"/>
          </a:xfrm>
          <a:prstGeom prst="rect">
            <a:avLst/>
          </a:prstGeom>
          <a:noFill/>
          <a:ln/>
        </p:spPr>
        <p:txBody>
          <a:bodyPr wrap="square" lIns="0" tIns="0" rIns="0" bIns="0" rtlCol="0" anchor="ctr"/>
          <a:lstStyle/>
          <a:p>
            <a:pPr marL="0" indent="0">
              <a:buNone/>
            </a:pPr>
            <a:r>
              <a:rPr lang="en-US" sz="1600" dirty="0">
                <a:solidFill>
                  <a:srgbClr val="0B1F3A"/>
                </a:solidFill>
              </a:rPr>
              <a:t>The ten biggest customers make up only 8.8% of revenue across 175 customers. That is low dependency, so the focus should be retaining and upselling the top group while lifting the bottom cohort.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0B2A5B"/>
                </a:solidFill>
              </a:rPr>
              <a:t>Customer margins differ by about ten points</a:t>
            </a:r>
            <a:endParaRPr lang="en-US" sz="3000" dirty="0"/>
          </a:p>
        </p:txBody>
      </p:sp>
      <p:sp>
        <p:nvSpPr>
          <p:cNvPr id="3" name="Chart tag"/>
          <p:cNvSpPr txBox="1"/>
          <p:nvPr/>
        </p:nvSpPr>
        <p:spPr>
          <a:xfrm>
            <a:off x="548640" y="1371600"/>
            <a:ext cx="11064240" cy="274320"/>
          </a:xfrm>
          <a:prstGeom prst="rect">
            <a:avLst/>
          </a:prstGeom>
          <a:noFill/>
          <a:ln/>
        </p:spPr>
        <p:txBody>
          <a:bodyPr wrap="square" lIns="0" tIns="0" rIns="0" bIns="0" rtlCol="0" anchor="ctr"/>
          <a:lstStyle/>
          <a:p>
            <a:pPr marL="0" indent="0">
              <a:buNone/>
            </a:pPr>
            <a:r>
              <a:rPr lang="en-US" sz="1200" b="1" kern="0" spc="200" dirty="0">
                <a:solidFill>
                  <a:srgbClr val="2F6FDB"/>
                </a:solidFill>
              </a:rPr>
              <a:t>DASHBOARD CHART  ·  TOP 5 AND BOTTOM 5 CUSTOMERS BY PROFIT MARGIN</a:t>
            </a:r>
            <a:endParaRPr lang="en-US" sz="1200" dirty="0"/>
          </a:p>
        </p:txBody>
      </p:sp>
      <p:sp>
        <p:nvSpPr>
          <p:cNvPr id="5" name="Top 5 by profit margin"/>
          <p:cNvSpPr txBox="1"/>
          <p:nvPr/>
        </p:nvSpPr>
        <p:spPr>
          <a:xfrm>
            <a:off x="548640" y="1691640"/>
            <a:ext cx="5394960" cy="320040"/>
          </a:xfrm>
          <a:prstGeom prst="rect">
            <a:avLst/>
          </a:prstGeom>
          <a:noFill/>
          <a:ln/>
        </p:spPr>
        <p:txBody>
          <a:bodyPr wrap="square" lIns="0" tIns="0" rIns="0" bIns="0" rtlCol="0" anchor="ctr"/>
          <a:lstStyle/>
          <a:p>
            <a:pPr marL="0" indent="0">
              <a:buNone/>
            </a:pPr>
            <a:r>
              <a:rPr lang="en-US" sz="1600" b="1" dirty="0">
                <a:solidFill>
                  <a:srgbClr val="0B2A5B"/>
                </a:solidFill>
              </a:rPr>
              <a:t>Top 5 by profit margin</a:t>
            </a:r>
            <a:endParaRPr lang="en-US" sz="1600" dirty="0"/>
          </a:p>
        </p:txBody>
      </p:sp>
      <p:graphicFrame>
        <p:nvGraphicFramePr>
          <p:cNvPr id="6" name="Chart 0"/>
          <p:cNvGraphicFramePr/>
          <p:nvPr/>
        </p:nvGraphicFramePr>
        <p:xfrm>
          <a:off x="548640" y="2011680"/>
          <a:ext cx="54406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Bottom 5 by profit margin"/>
          <p:cNvSpPr txBox="1"/>
          <p:nvPr/>
        </p:nvSpPr>
        <p:spPr>
          <a:xfrm>
            <a:off x="6217920" y="1691640"/>
            <a:ext cx="5394960" cy="320040"/>
          </a:xfrm>
          <a:prstGeom prst="rect">
            <a:avLst/>
          </a:prstGeom>
          <a:noFill/>
          <a:ln/>
        </p:spPr>
        <p:txBody>
          <a:bodyPr wrap="square" lIns="0" tIns="0" rIns="0" bIns="0" rtlCol="0" anchor="ctr"/>
          <a:lstStyle/>
          <a:p>
            <a:pPr marL="0" indent="0">
              <a:buNone/>
            </a:pPr>
            <a:r>
              <a:rPr lang="en-US" sz="1600" b="1" dirty="0">
                <a:solidFill>
                  <a:srgbClr val="0B2A5B"/>
                </a:solidFill>
              </a:rPr>
              <a:t>Bottom 5 by profit margin</a:t>
            </a:r>
            <a:endParaRPr lang="en-US" sz="1600" dirty="0"/>
          </a:p>
        </p:txBody>
      </p:sp>
      <p:graphicFrame>
        <p:nvGraphicFramePr>
          <p:cNvPr id="8" name="Chart 1"/>
          <p:cNvGraphicFramePr/>
          <p:nvPr/>
        </p:nvGraphicFramePr>
        <p:xfrm>
          <a:off x="6217920" y="2011680"/>
          <a:ext cx="544068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9" name="Takeaway strip"/>
          <p:cNvSpPr/>
          <p:nvPr/>
        </p:nvSpPr>
        <p:spPr>
          <a:xfrm>
            <a:off x="548640" y="5349240"/>
            <a:ext cx="11109960" cy="868680"/>
          </a:xfrm>
          <a:prstGeom prst="roundRect">
            <a:avLst>
              <a:gd name="adj" fmla="val 15789"/>
            </a:avLst>
          </a:prstGeom>
          <a:solidFill>
            <a:srgbClr val="EEF3FA"/>
          </a:solidFill>
          <a:ln w="12700">
            <a:solidFill>
              <a:srgbClr val="EEF3FA"/>
            </a:solidFill>
            <a:prstDash val="solid"/>
          </a:ln>
        </p:spPr>
      </p:sp>
      <p:sp>
        <p:nvSpPr>
          <p:cNvPr id="10" name="Takeaway"/>
          <p:cNvSpPr txBox="1"/>
          <p:nvPr/>
        </p:nvSpPr>
        <p:spPr>
          <a:xfrm>
            <a:off x="822960" y="5394960"/>
            <a:ext cx="10561320" cy="777240"/>
          </a:xfrm>
          <a:prstGeom prst="rect">
            <a:avLst/>
          </a:prstGeom>
          <a:noFill/>
          <a:ln/>
        </p:spPr>
        <p:txBody>
          <a:bodyPr wrap="square" lIns="0" tIns="0" rIns="0" bIns="0" rtlCol="0" anchor="ctr"/>
          <a:lstStyle/>
          <a:p>
            <a:pPr marL="0" indent="0">
              <a:buNone/>
            </a:pPr>
            <a:r>
              <a:rPr lang="en-US" sz="1600" dirty="0">
                <a:solidFill>
                  <a:srgbClr val="0B1F3A"/>
                </a:solidFill>
              </a:rPr>
              <a:t>Revitol Company earns 42.9% while Twitterbri Ltd earns 32.5%, against a company average of 37.4%. Reviewing discounts for the lowest group is a quick way to lift overall profit.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0B2A5B"/>
                </a:solidFill>
              </a:rPr>
              <a:t>California is in a league of its own</a:t>
            </a:r>
            <a:endParaRPr lang="en-US" sz="3000" dirty="0"/>
          </a:p>
        </p:txBody>
      </p:sp>
      <p:sp>
        <p:nvSpPr>
          <p:cNvPr id="3" name="Chart tag"/>
          <p:cNvSpPr txBox="1"/>
          <p:nvPr/>
        </p:nvSpPr>
        <p:spPr>
          <a:xfrm>
            <a:off x="548640" y="1371600"/>
            <a:ext cx="11064240" cy="274320"/>
          </a:xfrm>
          <a:prstGeom prst="rect">
            <a:avLst/>
          </a:prstGeom>
          <a:noFill/>
          <a:ln/>
        </p:spPr>
        <p:txBody>
          <a:bodyPr wrap="square" lIns="0" tIns="0" rIns="0" bIns="0" rtlCol="0" anchor="ctr"/>
          <a:lstStyle/>
          <a:p>
            <a:pPr marL="0" indent="0">
              <a:buNone/>
            </a:pPr>
            <a:r>
              <a:rPr lang="en-US" sz="1200" b="1" kern="0" spc="200" dirty="0">
                <a:solidFill>
                  <a:srgbClr val="2F6FDB"/>
                </a:solidFill>
              </a:rPr>
              <a:t>DASHBOARD CHART  ·  TOP 5 AND BOTTOM 5 STATES BY REVENUE</a:t>
            </a:r>
            <a:endParaRPr lang="en-US" sz="1200" dirty="0"/>
          </a:p>
        </p:txBody>
      </p:sp>
      <p:sp>
        <p:nvSpPr>
          <p:cNvPr id="5" name="Top 5 states by revenue"/>
          <p:cNvSpPr txBox="1"/>
          <p:nvPr/>
        </p:nvSpPr>
        <p:spPr>
          <a:xfrm>
            <a:off x="548640" y="1691640"/>
            <a:ext cx="5394960" cy="320040"/>
          </a:xfrm>
          <a:prstGeom prst="rect">
            <a:avLst/>
          </a:prstGeom>
          <a:noFill/>
          <a:ln/>
        </p:spPr>
        <p:txBody>
          <a:bodyPr wrap="square" lIns="0" tIns="0" rIns="0" bIns="0" rtlCol="0" anchor="ctr"/>
          <a:lstStyle/>
          <a:p>
            <a:pPr marL="0" indent="0">
              <a:buNone/>
            </a:pPr>
            <a:r>
              <a:rPr lang="en-US" sz="1600" b="1" dirty="0">
                <a:solidFill>
                  <a:srgbClr val="0B2A5B"/>
                </a:solidFill>
              </a:rPr>
              <a:t>Top 5 states by revenue</a:t>
            </a:r>
            <a:endParaRPr lang="en-US" sz="1600" dirty="0"/>
          </a:p>
        </p:txBody>
      </p:sp>
      <p:graphicFrame>
        <p:nvGraphicFramePr>
          <p:cNvPr id="6" name="Chart 0"/>
          <p:cNvGraphicFramePr/>
          <p:nvPr/>
        </p:nvGraphicFramePr>
        <p:xfrm>
          <a:off x="548640" y="2011680"/>
          <a:ext cx="54406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Bottom 5 states (different scale)"/>
          <p:cNvSpPr txBox="1"/>
          <p:nvPr/>
        </p:nvSpPr>
        <p:spPr>
          <a:xfrm>
            <a:off x="6217920" y="1691640"/>
            <a:ext cx="5394960" cy="320040"/>
          </a:xfrm>
          <a:prstGeom prst="rect">
            <a:avLst/>
          </a:prstGeom>
          <a:noFill/>
          <a:ln/>
        </p:spPr>
        <p:txBody>
          <a:bodyPr wrap="square" lIns="0" tIns="0" rIns="0" bIns="0" rtlCol="0" anchor="ctr"/>
          <a:lstStyle/>
          <a:p>
            <a:pPr marL="0" indent="0">
              <a:buNone/>
            </a:pPr>
            <a:r>
              <a:rPr lang="en-US" sz="1600" b="1" dirty="0">
                <a:solidFill>
                  <a:srgbClr val="0B2A5B"/>
                </a:solidFill>
              </a:rPr>
              <a:t>Bottom 5 states (different scale)</a:t>
            </a:r>
            <a:endParaRPr lang="en-US" sz="1600" dirty="0"/>
          </a:p>
        </p:txBody>
      </p:sp>
      <p:graphicFrame>
        <p:nvGraphicFramePr>
          <p:cNvPr id="8" name="Chart 1"/>
          <p:cNvGraphicFramePr/>
          <p:nvPr/>
        </p:nvGraphicFramePr>
        <p:xfrm>
          <a:off x="6217920" y="2011680"/>
          <a:ext cx="544068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9" name="Takeaway strip"/>
          <p:cNvSpPr/>
          <p:nvPr/>
        </p:nvSpPr>
        <p:spPr>
          <a:xfrm>
            <a:off x="548640" y="5349240"/>
            <a:ext cx="11109960" cy="868680"/>
          </a:xfrm>
          <a:prstGeom prst="roundRect">
            <a:avLst>
              <a:gd name="adj" fmla="val 15789"/>
            </a:avLst>
          </a:prstGeom>
          <a:solidFill>
            <a:srgbClr val="EEF3FA"/>
          </a:solidFill>
          <a:ln w="12700">
            <a:solidFill>
              <a:srgbClr val="EEF3FA"/>
            </a:solidFill>
            <a:prstDash val="solid"/>
          </a:ln>
        </p:spPr>
      </p:sp>
      <p:sp>
        <p:nvSpPr>
          <p:cNvPr id="10" name="Takeaway"/>
          <p:cNvSpPr txBox="1"/>
          <p:nvPr/>
        </p:nvSpPr>
        <p:spPr>
          <a:xfrm>
            <a:off x="822960" y="5394960"/>
            <a:ext cx="10561320" cy="777240"/>
          </a:xfrm>
          <a:prstGeom prst="rect">
            <a:avLst/>
          </a:prstGeom>
          <a:noFill/>
          <a:ln/>
        </p:spPr>
        <p:txBody>
          <a:bodyPr wrap="square" lIns="0" tIns="0" rIns="0" bIns="0" rtlCol="0" anchor="ctr"/>
          <a:lstStyle/>
          <a:p>
            <a:pPr marL="0" indent="0">
              <a:buNone/>
            </a:pPr>
            <a:r>
              <a:rPr lang="en-US" sz="1600" dirty="0">
                <a:solidFill>
                  <a:srgbClr val="0B1F3A"/>
                </a:solidFill>
              </a:rPr>
              <a:t>California alone is 18.5% of revenue and 2.1× Illinois, and California, Illinois, Florida and Texas together earn 42% of all profit. The bottom five are each under 0.2% of sales (note the different scale on the right).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0B2A5B"/>
                </a:solidFill>
              </a:rPr>
              <a:t>The West leads, the Northeast trails, margins are equal</a:t>
            </a:r>
            <a:endParaRPr lang="en-US" sz="3000" dirty="0"/>
          </a:p>
        </p:txBody>
      </p:sp>
      <p:sp>
        <p:nvSpPr>
          <p:cNvPr id="3" name="Chart tag"/>
          <p:cNvSpPr txBox="1"/>
          <p:nvPr/>
        </p:nvSpPr>
        <p:spPr>
          <a:xfrm>
            <a:off x="548640" y="1371600"/>
            <a:ext cx="11064240" cy="274320"/>
          </a:xfrm>
          <a:prstGeom prst="rect">
            <a:avLst/>
          </a:prstGeom>
          <a:noFill/>
          <a:ln/>
        </p:spPr>
        <p:txBody>
          <a:bodyPr wrap="square" lIns="0" tIns="0" rIns="0" bIns="0" rtlCol="0" anchor="ctr"/>
          <a:lstStyle/>
          <a:p>
            <a:pPr marL="0" indent="0">
              <a:buNone/>
            </a:pPr>
            <a:r>
              <a:rPr lang="en-US" sz="1200" b="1" kern="0" spc="200" dirty="0">
                <a:solidFill>
                  <a:srgbClr val="2F6FDB"/>
                </a:solidFill>
              </a:rPr>
              <a:t>DASHBOARD CHART  ·  TOTAL REVENUE BY REGION  ·  PROFIT MARGIN % BY REGION</a:t>
            </a:r>
            <a:endParaRPr lang="en-US" sz="1200" dirty="0"/>
          </a:p>
        </p:txBody>
      </p:sp>
      <p:graphicFrame>
        <p:nvGraphicFramePr>
          <p:cNvPr id="5" name="Chart 0"/>
          <p:cNvGraphicFramePr/>
          <p:nvPr/>
        </p:nvGraphicFramePr>
        <p:xfrm>
          <a:off x="548640" y="1691640"/>
          <a:ext cx="5440680" cy="3520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6217920" y="1691640"/>
          <a:ext cx="5440680" cy="3520440"/>
        </p:xfrm>
        <a:graphic>
          <a:graphicData uri="http://schemas.openxmlformats.org/drawingml/2006/chart">
            <c:chart xmlns:c="http://schemas.openxmlformats.org/drawingml/2006/chart" xmlns:r="http://schemas.openxmlformats.org/officeDocument/2006/relationships" r:id="rId4"/>
          </a:graphicData>
        </a:graphic>
      </p:graphicFrame>
      <p:sp>
        <p:nvSpPr>
          <p:cNvPr id="7" name="Takeaway strip"/>
          <p:cNvSpPr/>
          <p:nvPr/>
        </p:nvSpPr>
        <p:spPr>
          <a:xfrm>
            <a:off x="548640" y="5349240"/>
            <a:ext cx="11109960" cy="868680"/>
          </a:xfrm>
          <a:prstGeom prst="roundRect">
            <a:avLst>
              <a:gd name="adj" fmla="val 15789"/>
            </a:avLst>
          </a:prstGeom>
          <a:solidFill>
            <a:srgbClr val="EEF3FA"/>
          </a:solidFill>
          <a:ln w="12700">
            <a:solidFill>
              <a:srgbClr val="EEF3FA"/>
            </a:solidFill>
            <a:prstDash val="solid"/>
          </a:ln>
        </p:spPr>
      </p:sp>
      <p:sp>
        <p:nvSpPr>
          <p:cNvPr id="8" name="Takeaway"/>
          <p:cNvSpPr txBox="1"/>
          <p:nvPr/>
        </p:nvSpPr>
        <p:spPr>
          <a:xfrm>
            <a:off x="822960" y="5394960"/>
            <a:ext cx="10561320" cy="777240"/>
          </a:xfrm>
          <a:prstGeom prst="rect">
            <a:avLst/>
          </a:prstGeom>
          <a:noFill/>
          <a:ln/>
        </p:spPr>
        <p:txBody>
          <a:bodyPr wrap="square" lIns="0" tIns="0" rIns="0" bIns="0" rtlCol="0" anchor="ctr"/>
          <a:lstStyle/>
          <a:p>
            <a:pPr marL="0" indent="0">
              <a:buNone/>
            </a:pPr>
            <a:r>
              <a:rPr lang="en-US" sz="1600" dirty="0">
                <a:solidFill>
                  <a:srgbClr val="0B1F3A"/>
                </a:solidFill>
              </a:rPr>
              <a:t>West brings in $372M (30%), South $335M and Midwest $320M. The Northeast is $208M (17%). Margins are all about 37%, so local promotions are the lever.</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4A5B78"/>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000" b="1" dirty="0">
                <a:solidFill>
                  <a:srgbClr val="FFFFFF"/>
                </a:solidFill>
              </a:rPr>
              <a:t>What the dashboard tells us to do</a:t>
            </a:r>
            <a:endParaRPr lang="en-US" sz="3000" dirty="0"/>
          </a:p>
        </p:txBody>
      </p:sp>
      <p:sp>
        <p:nvSpPr>
          <p:cNvPr id="4" name="Action card 1"/>
          <p:cNvSpPr/>
          <p:nvPr/>
        </p:nvSpPr>
        <p:spPr>
          <a:xfrm>
            <a:off x="548640" y="1508760"/>
            <a:ext cx="5440680" cy="2011680"/>
          </a:xfrm>
          <a:prstGeom prst="roundRect">
            <a:avLst>
              <a:gd name="adj" fmla="val 6818"/>
            </a:avLst>
          </a:prstGeom>
          <a:solidFill>
            <a:srgbClr val="0B2A5B"/>
          </a:solidFill>
          <a:ln w="12700">
            <a:solidFill>
              <a:srgbClr val="1D4E89"/>
            </a:solidFill>
            <a:prstDash val="solid"/>
          </a:ln>
        </p:spPr>
      </p:sp>
      <p:sp>
        <p:nvSpPr>
          <p:cNvPr id="5" name="Text 2"/>
          <p:cNvSpPr txBox="1"/>
          <p:nvPr/>
        </p:nvSpPr>
        <p:spPr>
          <a:xfrm>
            <a:off x="822960" y="1691640"/>
            <a:ext cx="4937760" cy="457200"/>
          </a:xfrm>
          <a:prstGeom prst="rect">
            <a:avLst/>
          </a:prstGeom>
          <a:noFill/>
          <a:ln/>
        </p:spPr>
        <p:txBody>
          <a:bodyPr wrap="square" lIns="0" tIns="0" rIns="0" bIns="0" rtlCol="0" anchor="ctr"/>
          <a:lstStyle/>
          <a:p>
            <a:pPr marL="0" indent="0">
              <a:buNone/>
            </a:pPr>
            <a:r>
              <a:rPr lang="en-US" sz="2200" b="1" dirty="0">
                <a:solidFill>
                  <a:srgbClr val="7FB2F0"/>
                </a:solidFill>
                <a:latin typeface="+mj-lt" pitchFamily="34" charset="0"/>
                <a:ea typeface="+mj-lt" pitchFamily="34" charset="-122"/>
                <a:cs typeface="+mj-lt" pitchFamily="34" charset="-120"/>
              </a:rPr>
              <a:t>Grow Export</a:t>
            </a:r>
            <a:endParaRPr lang="en-US" sz="2200" dirty="0"/>
          </a:p>
        </p:txBody>
      </p:sp>
      <p:sp>
        <p:nvSpPr>
          <p:cNvPr id="6" name="Text 3"/>
          <p:cNvSpPr txBox="1"/>
          <p:nvPr/>
        </p:nvSpPr>
        <p:spPr>
          <a:xfrm>
            <a:off x="822960" y="2240280"/>
            <a:ext cx="4937760" cy="1143000"/>
          </a:xfrm>
          <a:prstGeom prst="rect">
            <a:avLst/>
          </a:prstGeom>
          <a:noFill/>
          <a:ln/>
        </p:spPr>
        <p:txBody>
          <a:bodyPr wrap="square" lIns="0" tIns="0" rIns="0" bIns="0" rtlCol="0" anchor="t"/>
          <a:lstStyle/>
          <a:p>
            <a:pPr marL="0" indent="0">
              <a:buNone/>
            </a:pPr>
            <a:r>
              <a:rPr lang="en-US" sz="1600" dirty="0">
                <a:solidFill>
                  <a:srgbClr val="FFFFFF"/>
                </a:solidFill>
              </a:rPr>
              <a:t>Smallest channel, best margin. Overseas marketing and partners spread risk away from Wholesale.</a:t>
            </a:r>
            <a:endParaRPr lang="en-US" sz="1600" dirty="0"/>
          </a:p>
        </p:txBody>
      </p:sp>
      <p:sp>
        <p:nvSpPr>
          <p:cNvPr id="7" name="Action card 2"/>
          <p:cNvSpPr/>
          <p:nvPr/>
        </p:nvSpPr>
        <p:spPr>
          <a:xfrm>
            <a:off x="6172200" y="1508760"/>
            <a:ext cx="5440680" cy="2011680"/>
          </a:xfrm>
          <a:prstGeom prst="roundRect">
            <a:avLst>
              <a:gd name="adj" fmla="val 6818"/>
            </a:avLst>
          </a:prstGeom>
          <a:solidFill>
            <a:srgbClr val="0B2A5B"/>
          </a:solidFill>
          <a:ln w="12700">
            <a:solidFill>
              <a:srgbClr val="1D4E89"/>
            </a:solidFill>
            <a:prstDash val="solid"/>
          </a:ln>
        </p:spPr>
      </p:sp>
      <p:sp>
        <p:nvSpPr>
          <p:cNvPr id="8" name="Text 5"/>
          <p:cNvSpPr txBox="1"/>
          <p:nvPr/>
        </p:nvSpPr>
        <p:spPr>
          <a:xfrm>
            <a:off x="6446520" y="1691640"/>
            <a:ext cx="4937760" cy="457200"/>
          </a:xfrm>
          <a:prstGeom prst="rect">
            <a:avLst/>
          </a:prstGeom>
          <a:noFill/>
          <a:ln/>
        </p:spPr>
        <p:txBody>
          <a:bodyPr wrap="square" lIns="0" tIns="0" rIns="0" bIns="0" rtlCol="0" anchor="ctr"/>
          <a:lstStyle/>
          <a:p>
            <a:pPr marL="0" indent="0">
              <a:buNone/>
            </a:pPr>
            <a:r>
              <a:rPr lang="en-US" sz="2200" b="1" dirty="0">
                <a:solidFill>
                  <a:srgbClr val="7FB2F0"/>
                </a:solidFill>
                <a:latin typeface="+mj-lt" pitchFamily="34" charset="0"/>
                <a:ea typeface="+mj-lt" pitchFamily="34" charset="-122"/>
                <a:cs typeface="+mj-lt" pitchFamily="34" charset="-120"/>
              </a:rPr>
              <a:t>Close the Northeast gap</a:t>
            </a:r>
            <a:endParaRPr lang="en-US" sz="2200" dirty="0"/>
          </a:p>
        </p:txBody>
      </p:sp>
      <p:sp>
        <p:nvSpPr>
          <p:cNvPr id="9" name="Text 6"/>
          <p:cNvSpPr txBox="1"/>
          <p:nvPr/>
        </p:nvSpPr>
        <p:spPr>
          <a:xfrm>
            <a:off x="6446520" y="2240280"/>
            <a:ext cx="4937760" cy="1143000"/>
          </a:xfrm>
          <a:prstGeom prst="rect">
            <a:avLst/>
          </a:prstGeom>
          <a:noFill/>
          <a:ln/>
        </p:spPr>
        <p:txBody>
          <a:bodyPr wrap="square" lIns="0" tIns="0" rIns="0" bIns="0" rtlCol="0" anchor="t"/>
          <a:lstStyle/>
          <a:p>
            <a:pPr marL="0" indent="0">
              <a:buNone/>
            </a:pPr>
            <a:r>
              <a:rPr lang="en-US" sz="1600" dirty="0">
                <a:solidFill>
                  <a:srgbClr val="FFFFFF"/>
                </a:solidFill>
              </a:rPr>
              <a:t>Only 17% of revenue at the same margin as everywhere else. Local promotions come first.</a:t>
            </a:r>
            <a:endParaRPr lang="en-US" sz="1600" dirty="0"/>
          </a:p>
        </p:txBody>
      </p:sp>
      <p:sp>
        <p:nvSpPr>
          <p:cNvPr id="10" name="Action card 3"/>
          <p:cNvSpPr/>
          <p:nvPr/>
        </p:nvSpPr>
        <p:spPr>
          <a:xfrm>
            <a:off x="548640" y="3703320"/>
            <a:ext cx="5440680" cy="2011680"/>
          </a:xfrm>
          <a:prstGeom prst="roundRect">
            <a:avLst>
              <a:gd name="adj" fmla="val 6818"/>
            </a:avLst>
          </a:prstGeom>
          <a:solidFill>
            <a:srgbClr val="0B2A5B"/>
          </a:solidFill>
          <a:ln w="12700">
            <a:solidFill>
              <a:srgbClr val="1D4E89"/>
            </a:solidFill>
            <a:prstDash val="solid"/>
          </a:ln>
        </p:spPr>
      </p:sp>
      <p:sp>
        <p:nvSpPr>
          <p:cNvPr id="11" name="Text 8"/>
          <p:cNvSpPr txBox="1"/>
          <p:nvPr/>
        </p:nvSpPr>
        <p:spPr>
          <a:xfrm>
            <a:off x="822960" y="3886200"/>
            <a:ext cx="4937760" cy="457200"/>
          </a:xfrm>
          <a:prstGeom prst="rect">
            <a:avLst/>
          </a:prstGeom>
          <a:noFill/>
          <a:ln/>
        </p:spPr>
        <p:txBody>
          <a:bodyPr wrap="square" lIns="0" tIns="0" rIns="0" bIns="0" rtlCol="0" anchor="ctr"/>
          <a:lstStyle/>
          <a:p>
            <a:pPr marL="0" indent="0">
              <a:buNone/>
            </a:pPr>
            <a:r>
              <a:rPr lang="en-US" sz="2200" b="1" dirty="0">
                <a:solidFill>
                  <a:srgbClr val="7FB2F0"/>
                </a:solidFill>
                <a:latin typeface="+mj-lt" pitchFamily="34" charset="0"/>
                <a:ea typeface="+mj-lt" pitchFamily="34" charset="-122"/>
                <a:cs typeface="+mj-lt" pitchFamily="34" charset="-120"/>
              </a:rPr>
              <a:t>Plan around February</a:t>
            </a:r>
            <a:endParaRPr lang="en-US" sz="2200" dirty="0"/>
          </a:p>
        </p:txBody>
      </p:sp>
      <p:sp>
        <p:nvSpPr>
          <p:cNvPr id="12" name="Text 9"/>
          <p:cNvSpPr txBox="1"/>
          <p:nvPr/>
        </p:nvSpPr>
        <p:spPr>
          <a:xfrm>
            <a:off x="822960" y="4434840"/>
            <a:ext cx="4937760" cy="1143000"/>
          </a:xfrm>
          <a:prstGeom prst="rect">
            <a:avLst/>
          </a:prstGeom>
          <a:noFill/>
          <a:ln/>
        </p:spPr>
        <p:txBody>
          <a:bodyPr wrap="square" lIns="0" tIns="0" rIns="0" bIns="0" rtlCol="0" anchor="t"/>
          <a:lstStyle/>
          <a:p>
            <a:pPr marL="0" indent="0">
              <a:buNone/>
            </a:pPr>
            <a:r>
              <a:rPr lang="en-US" sz="1600" dirty="0">
                <a:solidFill>
                  <a:srgbClr val="FFFFFF"/>
                </a:solidFill>
              </a:rPr>
              <a:t>The weakest month every year, and February 2017 was an outlier. Time campaigns to soften it.</a:t>
            </a:r>
            <a:endParaRPr lang="en-US" sz="1600" dirty="0"/>
          </a:p>
        </p:txBody>
      </p:sp>
      <p:sp>
        <p:nvSpPr>
          <p:cNvPr id="13" name="Action card 4"/>
          <p:cNvSpPr/>
          <p:nvPr/>
        </p:nvSpPr>
        <p:spPr>
          <a:xfrm>
            <a:off x="6172200" y="3703320"/>
            <a:ext cx="5440680" cy="2011680"/>
          </a:xfrm>
          <a:prstGeom prst="roundRect">
            <a:avLst>
              <a:gd name="adj" fmla="val 6818"/>
            </a:avLst>
          </a:prstGeom>
          <a:solidFill>
            <a:srgbClr val="0B2A5B"/>
          </a:solidFill>
          <a:ln w="12700">
            <a:solidFill>
              <a:srgbClr val="1D4E89"/>
            </a:solidFill>
            <a:prstDash val="solid"/>
          </a:ln>
        </p:spPr>
      </p:sp>
      <p:sp>
        <p:nvSpPr>
          <p:cNvPr id="14" name="Text 11"/>
          <p:cNvSpPr txBox="1"/>
          <p:nvPr/>
        </p:nvSpPr>
        <p:spPr>
          <a:xfrm>
            <a:off x="6446520" y="3886200"/>
            <a:ext cx="4937760" cy="457200"/>
          </a:xfrm>
          <a:prstGeom prst="rect">
            <a:avLst/>
          </a:prstGeom>
          <a:noFill/>
          <a:ln/>
        </p:spPr>
        <p:txBody>
          <a:bodyPr wrap="square" lIns="0" tIns="0" rIns="0" bIns="0" rtlCol="0" anchor="ctr"/>
          <a:lstStyle/>
          <a:p>
            <a:pPr marL="0" indent="0">
              <a:buNone/>
            </a:pPr>
            <a:r>
              <a:rPr lang="en-US" sz="2200" b="1" dirty="0">
                <a:solidFill>
                  <a:srgbClr val="7FB2F0"/>
                </a:solidFill>
                <a:latin typeface="+mj-lt" pitchFamily="34" charset="0"/>
                <a:ea typeface="+mj-lt" pitchFamily="34" charset="-122"/>
                <a:cs typeface="+mj-lt" pitchFamily="34" charset="-120"/>
              </a:rPr>
              <a:t>Fix margin line by line</a:t>
            </a:r>
            <a:endParaRPr lang="en-US" sz="2200" dirty="0"/>
          </a:p>
        </p:txBody>
      </p:sp>
      <p:sp>
        <p:nvSpPr>
          <p:cNvPr id="15" name="Text 12"/>
          <p:cNvSpPr txBox="1"/>
          <p:nvPr/>
        </p:nvSpPr>
        <p:spPr>
          <a:xfrm>
            <a:off x="6446520" y="4434840"/>
            <a:ext cx="4937760" cy="1143000"/>
          </a:xfrm>
          <a:prstGeom prst="rect">
            <a:avLst/>
          </a:prstGeom>
          <a:noFill/>
          <a:ln/>
        </p:spPr>
        <p:txBody>
          <a:bodyPr wrap="square" lIns="0" tIns="0" rIns="0" bIns="0" rtlCol="0" anchor="t"/>
          <a:lstStyle/>
          <a:p>
            <a:pPr marL="0" indent="0">
              <a:buNone/>
            </a:pPr>
            <a:r>
              <a:rPr lang="en-US" sz="1600" dirty="0">
                <a:solidFill>
                  <a:srgbClr val="FFFFFF"/>
                </a:solidFill>
              </a:rPr>
              <a:t>Margin has no link to price or customer size. Review discounts for low-margin customers and the 11 sub-$20M products.</a:t>
            </a:r>
            <a:endParaRPr lang="en-US" sz="1600" dirty="0"/>
          </a:p>
        </p:txBody>
      </p:sp>
      <p:sp>
        <p:nvSpPr>
          <p:cNvPr id="16" name="Next step"/>
          <p:cNvSpPr txBox="1"/>
          <p:nvPr/>
        </p:nvSpPr>
        <p:spPr>
          <a:xfrm>
            <a:off x="548640" y="5943600"/>
            <a:ext cx="11064240" cy="365760"/>
          </a:xfrm>
          <a:prstGeom prst="rect">
            <a:avLst/>
          </a:prstGeom>
          <a:noFill/>
          <a:ln/>
        </p:spPr>
        <p:txBody>
          <a:bodyPr wrap="square" lIns="0" tIns="0" rIns="0" bIns="0" rtlCol="0" anchor="ctr"/>
          <a:lstStyle/>
          <a:p>
            <a:pPr marL="0" indent="0">
              <a:buNone/>
            </a:pPr>
            <a:r>
              <a:rPr lang="en-US" sz="1400" dirty="0">
                <a:solidFill>
                  <a:srgbClr val="C9DDF7"/>
                </a:solidFill>
              </a:rPr>
              <a:t>Suggested next addition to the report: a budget versus actual view.</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C9DDF7"/>
                </a:solidFill>
              </a:defRPr>
            </a:lvl1pPr>
          </a:lstStyle>
          <a:p>
            <a:pPr algn="l"/>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BrightMart Navy">
  <a:themeElements>
    <a:clrScheme name="BrightMart Navy">
      <a:dk1>
        <a:srgbClr val="0B1F3A"/>
      </a:dk1>
      <a:lt1>
        <a:srgbClr val="FFFFFF"/>
      </a:lt1>
      <a:dk2>
        <a:srgbClr val="081B3A"/>
      </a:dk2>
      <a:lt2>
        <a:srgbClr val="EEF3FA"/>
      </a:lt2>
      <a:accent1>
        <a:srgbClr val="2F6FDB"/>
      </a:accent1>
      <a:accent2>
        <a:srgbClr val="0B2A5B"/>
      </a:accent2>
      <a:accent3>
        <a:srgbClr val="7FB2F0"/>
      </a:accent3>
      <a:accent4>
        <a:srgbClr val="F5A623"/>
      </a:accent4>
      <a:accent5>
        <a:srgbClr val="5C8FE0"/>
      </a:accent5>
      <a:accent6>
        <a:srgbClr val="C9DDF7"/>
      </a:accent6>
      <a:hlink>
        <a:srgbClr val="2F6FDB"/>
      </a:hlink>
      <a:folHlink>
        <a:srgbClr val="4A5B78"/>
      </a:folHlink>
    </a:clrScheme>
    <a:fontScheme name="BrightMart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1453</Words>
  <Application>Microsoft Office PowerPoint</Application>
  <PresentationFormat>Widescreen</PresentationFormat>
  <Paragraphs>149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BrightMart Navy</vt:lpstr>
      <vt:lpstr>SALES REPORT</vt:lpstr>
      <vt:lpstr>The report at a glance</vt:lpstr>
      <vt:lpstr>Every year follows almost the same revenue rhythm</vt:lpstr>
      <vt:lpstr>Profit moves in lockstep with revenue</vt:lpstr>
      <vt:lpstr>Price level tells us nothing about margin</vt:lpstr>
      <vt:lpstr>Two products lead, and a long tail trails behind</vt:lpstr>
      <vt:lpstr>Margins are tightly packed, so volume decides</vt:lpstr>
      <vt:lpstr>Bigger customers are not more profitable customers</vt:lpstr>
      <vt:lpstr>Wholesale is the engine; Export earns the best margin</vt:lpstr>
      <vt:lpstr>Our biggest customers are only about twice our smallest</vt:lpstr>
      <vt:lpstr>Customer margins differ by about ten points</vt:lpstr>
      <vt:lpstr>California is in a league of its own</vt:lpstr>
      <vt:lpstr>The West leads, the Northeast trails, margins are equal</vt:lpstr>
      <vt:lpstr>What the dashboard tells us to do</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BrightMart Inc. Sales Dashboard Review</dc:title>
  <dc:subject>PptxGenJS Presentation</dc:subject>
  <dc:creator>Sales analytics</dc:creator>
  <cp:lastModifiedBy>Aditya Pradhan</cp:lastModifiedBy>
  <cp:revision>2</cp:revision>
  <dcterms:created xsi:type="dcterms:W3CDTF">2026-10-10T08:30:23Z</dcterms:created>
  <dcterms:modified xsi:type="dcterms:W3CDTF">2026-10-10T09:56:46Z</dcterms:modified>
</cp:coreProperties>
</file>